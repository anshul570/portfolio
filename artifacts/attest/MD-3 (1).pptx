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Sanjana Ghos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28T23:05:45.655">
    <p:pos x="113" y="145"/>
    <p:text>@aa2739@cornell.edu
_Reassigned to Alissa Amchentseva_</p:text>
  </p:cm>
  <p:cm authorId="0" idx="2" dt="2026-04-28T23:05:45.655">
    <p:pos x="113" y="145"/>
    <p:text>@smk379@cornell.edu</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daa5bf804e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daa5bf804e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aa5bf804e_0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g3daa5bf804e_0_0: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g3daa5bf804e_0_0: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daa5bf804e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daa5bf804e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daa5bf804e_0_2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g3daa5bf804e_0_21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g3daa5bf804e_0_21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daa5bf804e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daa5bf804e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aa5bf804e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daa5bf804e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aa5bf804e_0_30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daa5bf804e_0_307: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solidFill>
                  <a:schemeClr val="dk1"/>
                </a:solidFill>
              </a:rPr>
              <a:t>“This slide contrasts the </a:t>
            </a:r>
            <a:r>
              <a:rPr i="1" lang="en">
                <a:solidFill>
                  <a:schemeClr val="dk1"/>
                </a:solidFill>
              </a:rPr>
              <a:t>current manual compliance workflow</a:t>
            </a:r>
            <a:r>
              <a:rPr lang="en">
                <a:solidFill>
                  <a:schemeClr val="dk1"/>
                </a:solidFill>
              </a:rPr>
              <a:t> with our </a:t>
            </a:r>
            <a:r>
              <a:rPr i="1" lang="en">
                <a:solidFill>
                  <a:schemeClr val="dk1"/>
                </a:solidFill>
              </a:rPr>
              <a:t>AI-automated pipeline</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 the left is the ‘before’ state—highly manual, fragmented, and slow.”</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“On the right is the ‘after’ state—an integrated, agent-driven system that automates mapping, testing, and monitoring.”</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Left Side — BEFORE (Manual Process)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“Today, the process starts with the </a:t>
            </a:r>
            <a:r>
              <a:rPr b="1" lang="en">
                <a:solidFill>
                  <a:schemeClr val="dk1"/>
                </a:solidFill>
              </a:rPr>
              <a:t>security team manually reviewing NIST controls</a:t>
            </a:r>
            <a:r>
              <a:rPr lang="en">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“Then the </a:t>
            </a:r>
            <a:r>
              <a:rPr b="1" lang="en">
                <a:solidFill>
                  <a:schemeClr val="dk1"/>
                </a:solidFill>
              </a:rPr>
              <a:t>audit team collects evidence manually</a:t>
            </a:r>
            <a:r>
              <a:rPr lang="en">
                <a:solidFill>
                  <a:schemeClr val="dk1"/>
                </a:solidFill>
              </a:rPr>
              <a:t>, often across multiple systems.”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feeds into </a:t>
            </a:r>
            <a:r>
              <a:rPr b="1" lang="en">
                <a:solidFill>
                  <a:schemeClr val="dk1"/>
                </a:solidFill>
              </a:rPr>
              <a:t>compliance reports</a:t>
            </a:r>
            <a:r>
              <a:rPr lang="en">
                <a:solidFill>
                  <a:schemeClr val="dk1"/>
                </a:solidFill>
              </a:rPr>
              <a:t>, which typically take months to produce.”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 the execution side: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Controls are mapped using </a:t>
            </a:r>
            <a:r>
              <a:rPr b="1" lang="en">
                <a:solidFill>
                  <a:schemeClr val="dk1"/>
                </a:solidFill>
              </a:rPr>
              <a:t>spreadsheets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Testing is </a:t>
            </a:r>
            <a:r>
              <a:rPr b="1" lang="en">
                <a:solidFill>
                  <a:schemeClr val="dk1"/>
                </a:solidFill>
              </a:rPr>
              <a:t>manual and inconsistent</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There is </a:t>
            </a:r>
            <a:r>
              <a:rPr b="1" lang="en">
                <a:solidFill>
                  <a:schemeClr val="dk1"/>
                </a:solidFill>
              </a:rPr>
              <a:t>no real-time alerting</a:t>
            </a:r>
            <a:r>
              <a:rPr lang="en">
                <a:solidFill>
                  <a:schemeClr val="dk1"/>
                </a:solidFill>
              </a:rPr>
              <a:t>—issues are only caught during audits”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key takeaway here is: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Heavy reliance on domain experts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High error rates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Slow turnaround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Expensive to scale”</a:t>
            </a:r>
            <a:endParaRPr>
              <a:solidFill>
                <a:schemeClr val="dk1"/>
              </a:solidFill>
            </a:endParaRPr>
          </a:p>
          <a:p>
            <a:pPr indent="0" lvl="0" marL="0" rtl="0" algn="l">
              <a:spcBef>
                <a:spcPts val="1200"/>
              </a:spcBef>
              <a:spcAft>
                <a:spcPts val="0"/>
              </a:spcAft>
              <a:buNone/>
            </a:pPr>
            <a:r>
              <a:rPr lang="en"/>
              <a:t>“So fundamentally, the current system is reactive, not proactive.”</a:t>
            </a:r>
            <a:endParaRPr/>
          </a:p>
          <a:p>
            <a:pPr indent="0" lvl="0" marL="0" rtl="0" algn="l">
              <a:spcBef>
                <a:spcPts val="0"/>
              </a:spcBef>
              <a:spcAft>
                <a:spcPts val="0"/>
              </a:spcAft>
              <a:buNone/>
            </a:pPr>
            <a:r>
              <a:rPr lang="en"/>
              <a:t>“Now let’s look at how we redesign this using AI.”</a:t>
            </a:r>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Inputs Layer</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 start by centralizing inputs into knowledge bases: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NIST controls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GCP service documentation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Existing audit docs and test cases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Plus AI-generated test cases for broader coverage”</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Agents Layer</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“We introduce specialized AI agents, each responsible for a key function.”</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Mapping Agent</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“Uses LLM + retrieval (RAG) to automatically map controls to services”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“Eliminates spreadsheet-based mapping and improves consistency”</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Test Agent</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“Defines and runs test cases”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“Combines existing + AI-generated cases for better coverage”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“Continuously validates compliance instead of periodic checks”</a:t>
            </a:r>
            <a:br>
              <a:rPr lang="en">
                <a:solidFill>
                  <a:schemeClr val="dk1"/>
                </a:solidFill>
              </a:rPr>
            </a:br>
            <a:r>
              <a:rPr b="1" lang="en">
                <a:solidFill>
                  <a:schemeClr val="dk1"/>
                </a:solidFill>
              </a:rPr>
              <a:t>Outputs Layer</a:t>
            </a: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system produces three key outputs: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Validated control-to-service mappings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Audit-ready evidence stored centrally</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Real-time alerts for failures</a:t>
            </a:r>
            <a:r>
              <a:rPr lang="en">
                <a:solidFill>
                  <a:schemeClr val="dk1"/>
                </a:solidFill>
              </a:rPr>
              <a: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Key Improvements</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“Compared to the manual process, this approach:</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Reduces dependency on human experts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Speeds up compliance cycles dramatically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Improves accuracy and coverage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Enables real-time monitoring instead of delayed audits”</a:t>
            </a:r>
            <a:endParaRPr>
              <a:solidFill>
                <a:schemeClr val="dk1"/>
              </a:solidFill>
            </a:endParaRPr>
          </a:p>
          <a:p>
            <a:pPr indent="0" lvl="0" marL="0" rtl="0" algn="l">
              <a:spcBef>
                <a:spcPts val="1200"/>
              </a:spcBef>
              <a:spcAft>
                <a:spcPts val="0"/>
              </a:spcAft>
              <a:buNone/>
            </a:pPr>
            <a:r>
              <a:rPr lang="en">
                <a:solidFill>
                  <a:schemeClr val="dk1"/>
                </a:solidFill>
              </a:rPr>
              <a:t>“In short, we move from a </a:t>
            </a:r>
            <a:r>
              <a:rPr i="1" lang="en">
                <a:solidFill>
                  <a:schemeClr val="dk1"/>
                </a:solidFill>
              </a:rPr>
              <a:t>manual, audit-driven model</a:t>
            </a:r>
            <a:r>
              <a:rPr lang="en">
                <a:solidFill>
                  <a:schemeClr val="dk1"/>
                </a:solidFill>
              </a:rPr>
              <a:t> to an </a:t>
            </a:r>
            <a:r>
              <a:rPr i="1" lang="en">
                <a:solidFill>
                  <a:schemeClr val="dk1"/>
                </a:solidFill>
              </a:rPr>
              <a:t>automated, continuous compliance system powered by AI agents</a:t>
            </a:r>
            <a:r>
              <a:rPr lang="en">
                <a:solidFill>
                  <a:schemeClr val="dk1"/>
                </a:solidFill>
              </a:rPr>
              <a:t>.” </a:t>
            </a:r>
            <a:endParaRPr/>
          </a:p>
        </p:txBody>
      </p:sp>
      <p:sp>
        <p:nvSpPr>
          <p:cNvPr id="209" name="Google Shape;209;g3daa5bf804e_0_307: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db529220bd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db529220bd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aa5bf804e_2_16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g3daa5bf804e_2_16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g3daa5bf804e_2_16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daa5bf804e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daa5bf804e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daa5bf804e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daa5bf804e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dab44560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dab44560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daa5bf804e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daa5bf804e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hyperlink" Target="https://claude.ai/design/p/019de1aa-0735-7f35-928c-4e3b5d3af7d5?file=Attest+Compliance+Prototype.html&amp;via=share"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hyperlink" Target="https://claude.ai/public/artifacts/a93e556a-6719-44be-b269-a19658463d47" TargetMode="External"/><Relationship Id="rId4" Type="http://schemas.openxmlformats.org/officeDocument/2006/relationships/hyperlink" Target="https://gcp-compliance-agentic-system.vercel.app/" TargetMode="External"/><Relationship Id="rId5" Type="http://schemas.openxmlformats.org/officeDocument/2006/relationships/hyperlink" Target="https://l.gourl.es/l/234d0ab1c49eab4c58f4a5a90e3f8e6b106721ef?w=YWsyNzk5QGNvcm5lbGwuZWR1&amp;u=13698941" TargetMode="External"/><Relationship Id="rId6" Type="http://schemas.openxmlformats.org/officeDocument/2006/relationships/hyperlink" Target="https://l.gourl.es/l/52f667a96da493d8e03f5abc3e97895ad6237880?w=YWsyNzk5QGNvcm5lbGwuZWR1&amp;u=13698941" TargetMode="External"/><Relationship Id="rId7" Type="http://schemas.openxmlformats.org/officeDocument/2006/relationships/hyperlink" Target="https://l.gourl.es/l/3a2267c959ca0acf938ec403a543d416d45d399a?w=YWsyNzk5QGNvcm5lbGwuZWR1&amp;u=1369894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descr="Create a premium title / cover slide for a startup pitch presentation inspired by Google Cloud + modern Notion design aesthetics.&#10;SLIDE PURPOSE:&#10;Opening title slide&#10;STYLE:&#10;&#10;&#10;Dark charcoal / near-black background&#10;&#10;&#10;Ultra-clean modern executive presentation look&#10;&#10;&#10;Premium startup demo day energy&#10;&#10;&#10;Minimalist with strong typography&#10;&#10;&#10;Google-quality product keynote style&#10;&#10;&#10;Spacious and elegant&#10;&#10;&#10;MAIN TITLE (large, bold, white, left aligned):&#10;GCP Compliance&#10;Automation&#10;SUBTITLE (below title in soft gray):&#10;AI-Powered Three-Step Solution&#10;DECORATIVE ACCENT:&#10;Thin short Google blue underline beneath title or subtitle.&#10;TOP LEFT SMALL LABEL:&#10;Rounded blue pill badge:&#10;Maker Day&#10;Next to it:&#10;#3&#10;FEATURE TAGS (row below subtitle):&#10;Create elegant rounded colored pills with soft glow:&#10;Blue: LLM + RAG&#10;Green: NIST Controls&#10;Yellow: Rego Automation&#10;Red: GCP Services&#10;TEAM SECTION (bottom left area):&#10;Small gray label:&#10;TEAM&#10;Below it, premium rounded member chips in one row:&#10;AN  Anusha&#10;AL  Alissa&#10;AN  Anshul&#10;SA  Sanjana&#10;SA  Sarah&#10;YA  Yash&#10;Each chip:&#10;&#10;&#10;dark card style&#10;&#10;&#10;circular colored initials avatar&#10;&#10;&#10;subtle border&#10;&#10;&#10;premium modern UI look&#10;&#10;&#10;LAYOUT:&#10;&#10;&#10;All content left aligned&#10;&#10;&#10;Use large empty negative space on right side&#10;&#10;&#10;Strong balance and hierarchy&#10;&#10;&#10;Title occupies upper left quadrant&#10;&#10;&#10;Team chips near bottom left&#10;&#10;&#10;TYPOGRAPHY:&#10;&#10;&#10;Bold geometric sans serif&#10;&#10;&#10;Crisp modern spacing&#10;&#10;&#10;Premium keynote quality&#10;&#10;&#10;MOOD:&#10;Confident, technical, polished, venture-backed startup feel&#10;16:9 widescreen&#10;Make it significantly better than the reference image, cleaner, sharper, more premium, and presentation-winning." id="55" name="Google Shape;55;p14"/>
          <p:cNvPicPr preferRelativeResize="0"/>
          <p:nvPr/>
        </p:nvPicPr>
        <p:blipFill>
          <a:blip r:embed="rId3">
            <a:alphaModFix/>
          </a:blip>
          <a:stretch>
            <a:fillRect/>
          </a:stretch>
        </p:blipFill>
        <p:spPr>
          <a:xfrm>
            <a:off x="0" y="12"/>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15"/>
          <p:cNvSpPr/>
          <p:nvPr/>
        </p:nvSpPr>
        <p:spPr>
          <a:xfrm>
            <a:off x="0" y="0"/>
            <a:ext cx="2286000" cy="91500"/>
          </a:xfrm>
          <a:prstGeom prst="rect">
            <a:avLst/>
          </a:prstGeom>
          <a:solidFill>
            <a:srgbClr val="4285F4"/>
          </a:solidFill>
          <a:ln cap="flat" cmpd="sng" w="127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2286000" y="0"/>
            <a:ext cx="2286000" cy="915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4572000" y="0"/>
            <a:ext cx="2286000" cy="915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6858000" y="0"/>
            <a:ext cx="2286000" cy="915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a:off x="365760" y="128016"/>
            <a:ext cx="5486400" cy="47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3000"/>
              <a:buFont typeface="Arial"/>
              <a:buNone/>
            </a:pPr>
            <a:r>
              <a:rPr b="1" i="0" lang="en" sz="3000" u="none" cap="none" strike="noStrike">
                <a:solidFill>
                  <a:srgbClr val="202124"/>
                </a:solidFill>
                <a:latin typeface="Arial"/>
                <a:ea typeface="Arial"/>
                <a:cs typeface="Arial"/>
                <a:sym typeface="Arial"/>
              </a:rPr>
              <a:t>The Problem</a:t>
            </a:r>
            <a:endParaRPr b="0" i="0" sz="3000" u="none" cap="none" strike="noStrike">
              <a:solidFill>
                <a:schemeClr val="dk1"/>
              </a:solidFill>
              <a:latin typeface="Calibri"/>
              <a:ea typeface="Calibri"/>
              <a:cs typeface="Calibri"/>
              <a:sym typeface="Calibri"/>
            </a:endParaRPr>
          </a:p>
        </p:txBody>
      </p:sp>
      <p:sp>
        <p:nvSpPr>
          <p:cNvPr id="66" name="Google Shape;66;p15"/>
          <p:cNvSpPr/>
          <p:nvPr/>
        </p:nvSpPr>
        <p:spPr>
          <a:xfrm>
            <a:off x="365760" y="621792"/>
            <a:ext cx="8412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050"/>
              <a:buFont typeface="Arial"/>
              <a:buNone/>
            </a:pPr>
            <a:r>
              <a:rPr b="0" i="0" lang="en" sz="1050" u="none" cap="none" strike="noStrike">
                <a:solidFill>
                  <a:srgbClr val="5F6368"/>
                </a:solidFill>
                <a:latin typeface="Arial"/>
                <a:ea typeface="Arial"/>
                <a:cs typeface="Arial"/>
                <a:sym typeface="Arial"/>
              </a:rPr>
              <a:t>Enterprises cannot systematically map, implement, and continuously verify compliance controls on GCP — making onboarding manual, fragmented, and slow.</a:t>
            </a:r>
            <a:endParaRPr b="0" i="0" sz="1050" u="none" cap="none" strike="noStrike">
              <a:solidFill>
                <a:schemeClr val="dk1"/>
              </a:solidFill>
              <a:latin typeface="Calibri"/>
              <a:ea typeface="Calibri"/>
              <a:cs typeface="Calibri"/>
              <a:sym typeface="Calibri"/>
            </a:endParaRPr>
          </a:p>
        </p:txBody>
      </p:sp>
      <p:cxnSp>
        <p:nvCxnSpPr>
          <p:cNvPr id="67" name="Google Shape;67;p15"/>
          <p:cNvCxnSpPr/>
          <p:nvPr/>
        </p:nvCxnSpPr>
        <p:spPr>
          <a:xfrm>
            <a:off x="274320" y="932688"/>
            <a:ext cx="8595300" cy="0"/>
          </a:xfrm>
          <a:prstGeom prst="straightConnector1">
            <a:avLst/>
          </a:prstGeom>
          <a:noFill/>
          <a:ln cap="flat" cmpd="sng" w="10150">
            <a:solidFill>
              <a:srgbClr val="E0E0E0"/>
            </a:solidFill>
            <a:prstDash val="solid"/>
            <a:round/>
            <a:headEnd len="sm" w="sm" type="none"/>
            <a:tailEnd len="sm" w="sm" type="none"/>
          </a:ln>
        </p:spPr>
      </p:cxnSp>
      <p:sp>
        <p:nvSpPr>
          <p:cNvPr id="68" name="Google Shape;68;p15"/>
          <p:cNvSpPr/>
          <p:nvPr/>
        </p:nvSpPr>
        <p:spPr>
          <a:xfrm>
            <a:off x="274320" y="1005840"/>
            <a:ext cx="2606100" cy="237600"/>
          </a:xfrm>
          <a:prstGeom prst="rect">
            <a:avLst/>
          </a:prstGeom>
          <a:solidFill>
            <a:srgbClr val="F1F3F4"/>
          </a:solidFill>
          <a:ln cap="flat" cmpd="sng" w="9525">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a:off x="274320" y="1005840"/>
            <a:ext cx="2606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368"/>
              </a:buClr>
              <a:buSzPts val="750"/>
              <a:buFont typeface="Arial"/>
              <a:buNone/>
            </a:pPr>
            <a:r>
              <a:rPr b="1" i="0" lang="en" sz="750" u="none" cap="none" strike="noStrike">
                <a:solidFill>
                  <a:srgbClr val="5F6368"/>
                </a:solidFill>
                <a:latin typeface="Arial"/>
                <a:ea typeface="Arial"/>
                <a:cs typeface="Arial"/>
                <a:sym typeface="Arial"/>
              </a:rPr>
              <a:t>CURRENT PROCESS</a:t>
            </a:r>
            <a:endParaRPr b="0" i="0" sz="750" u="none" cap="none" strike="noStrike">
              <a:solidFill>
                <a:schemeClr val="dk1"/>
              </a:solidFill>
              <a:latin typeface="Calibri"/>
              <a:ea typeface="Calibri"/>
              <a:cs typeface="Calibri"/>
              <a:sym typeface="Calibri"/>
            </a:endParaRPr>
          </a:p>
        </p:txBody>
      </p:sp>
      <p:sp>
        <p:nvSpPr>
          <p:cNvPr id="70" name="Google Shape;70;p15"/>
          <p:cNvSpPr/>
          <p:nvPr/>
        </p:nvSpPr>
        <p:spPr>
          <a:xfrm>
            <a:off x="274320" y="1261872"/>
            <a:ext cx="2606100" cy="530400"/>
          </a:xfrm>
          <a:prstGeom prst="rect">
            <a:avLst/>
          </a:prstGeom>
          <a:solidFill>
            <a:srgbClr val="FFFFFF"/>
          </a:solidFill>
          <a:ln cap="flat" cmpd="sng" w="9525">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a:off x="274320" y="1261872"/>
            <a:ext cx="54900" cy="530400"/>
          </a:xfrm>
          <a:prstGeom prst="rect">
            <a:avLst/>
          </a:prstGeom>
          <a:solidFill>
            <a:srgbClr val="4285F4"/>
          </a:solidFill>
          <a:ln cap="flat" cmpd="sng" w="127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a:off x="365760" y="1353312"/>
            <a:ext cx="274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85F4"/>
              </a:buClr>
              <a:buSzPts val="750"/>
              <a:buFont typeface="Arial"/>
              <a:buNone/>
            </a:pPr>
            <a:r>
              <a:rPr b="1" i="0" lang="en" sz="750" u="none" cap="none" strike="noStrike">
                <a:solidFill>
                  <a:srgbClr val="4285F4"/>
                </a:solidFill>
                <a:latin typeface="Arial"/>
                <a:ea typeface="Arial"/>
                <a:cs typeface="Arial"/>
                <a:sym typeface="Arial"/>
              </a:rPr>
              <a:t>01</a:t>
            </a:r>
            <a:endParaRPr b="0" i="0" sz="750" u="none" cap="none" strike="noStrike">
              <a:solidFill>
                <a:schemeClr val="dk1"/>
              </a:solidFill>
              <a:latin typeface="Calibri"/>
              <a:ea typeface="Calibri"/>
              <a:cs typeface="Calibri"/>
              <a:sym typeface="Calibri"/>
            </a:endParaRPr>
          </a:p>
        </p:txBody>
      </p:sp>
      <p:sp>
        <p:nvSpPr>
          <p:cNvPr id="73" name="Google Shape;73;p15"/>
          <p:cNvSpPr/>
          <p:nvPr/>
        </p:nvSpPr>
        <p:spPr>
          <a:xfrm>
            <a:off x="676656" y="1353312"/>
            <a:ext cx="210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950"/>
              <a:buFont typeface="Arial"/>
              <a:buNone/>
            </a:pPr>
            <a:r>
              <a:rPr b="1" i="0" lang="en" sz="950" u="none" cap="none" strike="noStrike">
                <a:solidFill>
                  <a:srgbClr val="3C4043"/>
                </a:solidFill>
                <a:latin typeface="Arial"/>
                <a:ea typeface="Arial"/>
                <a:cs typeface="Arial"/>
                <a:sym typeface="Arial"/>
              </a:rPr>
              <a:t>Starting Point</a:t>
            </a:r>
            <a:endParaRPr b="0" i="0" sz="950" u="none" cap="none" strike="noStrike">
              <a:solidFill>
                <a:schemeClr val="dk1"/>
              </a:solidFill>
              <a:latin typeface="Calibri"/>
              <a:ea typeface="Calibri"/>
              <a:cs typeface="Calibri"/>
              <a:sym typeface="Calibri"/>
            </a:endParaRPr>
          </a:p>
        </p:txBody>
      </p:sp>
      <p:sp>
        <p:nvSpPr>
          <p:cNvPr id="74" name="Google Shape;74;p15"/>
          <p:cNvSpPr/>
          <p:nvPr/>
        </p:nvSpPr>
        <p:spPr>
          <a:xfrm>
            <a:off x="676656" y="1554480"/>
            <a:ext cx="210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9E9E"/>
              </a:buClr>
              <a:buSzPts val="750"/>
              <a:buFont typeface="Arial"/>
              <a:buNone/>
            </a:pPr>
            <a:r>
              <a:rPr i="0" lang="en" sz="750" u="none" cap="none" strike="noStrike">
                <a:solidFill>
                  <a:srgbClr val="9E9E9E"/>
                </a:solidFill>
              </a:rPr>
              <a:t>Org decides to integrate with GCP</a:t>
            </a:r>
            <a:endParaRPr i="0" sz="750" u="none" cap="none" strike="noStrike">
              <a:solidFill>
                <a:schemeClr val="dk1"/>
              </a:solidFill>
            </a:endParaRPr>
          </a:p>
        </p:txBody>
      </p:sp>
      <p:sp>
        <p:nvSpPr>
          <p:cNvPr id="75" name="Google Shape;75;p15"/>
          <p:cNvSpPr/>
          <p:nvPr/>
        </p:nvSpPr>
        <p:spPr>
          <a:xfrm>
            <a:off x="1559052" y="1792224"/>
            <a:ext cx="36600" cy="50400"/>
          </a:xfrm>
          <a:prstGeom prst="rect">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a:off x="274320" y="1842516"/>
            <a:ext cx="2606100" cy="530400"/>
          </a:xfrm>
          <a:prstGeom prst="rect">
            <a:avLst/>
          </a:prstGeom>
          <a:solidFill>
            <a:srgbClr val="FFFFFF"/>
          </a:solidFill>
          <a:ln cap="flat" cmpd="sng" w="9525">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a:off x="274320" y="1842516"/>
            <a:ext cx="54900" cy="5304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a:off x="365760" y="1933956"/>
            <a:ext cx="274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A853"/>
              </a:buClr>
              <a:buSzPts val="750"/>
              <a:buFont typeface="Arial"/>
              <a:buNone/>
            </a:pPr>
            <a:r>
              <a:rPr b="1" i="0" lang="en" sz="750" u="none" cap="none" strike="noStrike">
                <a:solidFill>
                  <a:srgbClr val="34A853"/>
                </a:solidFill>
                <a:latin typeface="Arial"/>
                <a:ea typeface="Arial"/>
                <a:cs typeface="Arial"/>
                <a:sym typeface="Arial"/>
              </a:rPr>
              <a:t>02</a:t>
            </a:r>
            <a:endParaRPr b="0" i="0" sz="750" u="none" cap="none" strike="noStrike">
              <a:solidFill>
                <a:schemeClr val="dk1"/>
              </a:solidFill>
              <a:latin typeface="Calibri"/>
              <a:ea typeface="Calibri"/>
              <a:cs typeface="Calibri"/>
              <a:sym typeface="Calibri"/>
            </a:endParaRPr>
          </a:p>
        </p:txBody>
      </p:sp>
      <p:sp>
        <p:nvSpPr>
          <p:cNvPr id="79" name="Google Shape;79;p15"/>
          <p:cNvSpPr/>
          <p:nvPr/>
        </p:nvSpPr>
        <p:spPr>
          <a:xfrm>
            <a:off x="676656" y="1933956"/>
            <a:ext cx="210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950"/>
              <a:buFont typeface="Arial"/>
              <a:buNone/>
            </a:pPr>
            <a:r>
              <a:rPr b="1" i="0" lang="en" sz="950" u="none" cap="none" strike="noStrike">
                <a:solidFill>
                  <a:srgbClr val="3C4043"/>
                </a:solidFill>
                <a:latin typeface="Arial"/>
                <a:ea typeface="Arial"/>
                <a:cs typeface="Arial"/>
                <a:sym typeface="Arial"/>
              </a:rPr>
              <a:t>Onboarding &amp; Channel</a:t>
            </a:r>
            <a:endParaRPr b="0" i="0" sz="950" u="none" cap="none" strike="noStrike">
              <a:solidFill>
                <a:schemeClr val="dk1"/>
              </a:solidFill>
              <a:latin typeface="Calibri"/>
              <a:ea typeface="Calibri"/>
              <a:cs typeface="Calibri"/>
              <a:sym typeface="Calibri"/>
            </a:endParaRPr>
          </a:p>
        </p:txBody>
      </p:sp>
      <p:sp>
        <p:nvSpPr>
          <p:cNvPr id="80" name="Google Shape;80;p15"/>
          <p:cNvSpPr/>
          <p:nvPr/>
        </p:nvSpPr>
        <p:spPr>
          <a:xfrm>
            <a:off x="676656" y="2135124"/>
            <a:ext cx="210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9E9E"/>
              </a:buClr>
              <a:buSzPts val="750"/>
              <a:buFont typeface="Arial"/>
              <a:buNone/>
            </a:pPr>
            <a:r>
              <a:rPr i="0" lang="en" sz="750" u="none" cap="none" strike="noStrike">
                <a:solidFill>
                  <a:srgbClr val="9E9E9E"/>
                </a:solidFill>
              </a:rPr>
              <a:t>Self-service, professional services, or white glove</a:t>
            </a:r>
            <a:endParaRPr i="0" sz="750" u="none" cap="none" strike="noStrike">
              <a:solidFill>
                <a:schemeClr val="dk1"/>
              </a:solidFill>
            </a:endParaRPr>
          </a:p>
        </p:txBody>
      </p:sp>
      <p:sp>
        <p:nvSpPr>
          <p:cNvPr id="81" name="Google Shape;81;p15"/>
          <p:cNvSpPr/>
          <p:nvPr/>
        </p:nvSpPr>
        <p:spPr>
          <a:xfrm>
            <a:off x="1559052" y="2372868"/>
            <a:ext cx="36600" cy="50400"/>
          </a:xfrm>
          <a:prstGeom prst="rect">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a:off x="274320" y="2423160"/>
            <a:ext cx="2606100" cy="530400"/>
          </a:xfrm>
          <a:prstGeom prst="rect">
            <a:avLst/>
          </a:prstGeom>
          <a:solidFill>
            <a:srgbClr val="FFFFFF"/>
          </a:solidFill>
          <a:ln cap="flat" cmpd="sng" w="9525">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a:off x="274320" y="2423160"/>
            <a:ext cx="54900" cy="5304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5"/>
          <p:cNvSpPr/>
          <p:nvPr/>
        </p:nvSpPr>
        <p:spPr>
          <a:xfrm>
            <a:off x="365760" y="2514600"/>
            <a:ext cx="274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C04"/>
              </a:buClr>
              <a:buSzPts val="750"/>
              <a:buFont typeface="Arial"/>
              <a:buNone/>
            </a:pPr>
            <a:r>
              <a:rPr b="1" i="0" lang="en" sz="750" u="none" cap="none" strike="noStrike">
                <a:solidFill>
                  <a:srgbClr val="FBBC04"/>
                </a:solidFill>
                <a:latin typeface="Arial"/>
                <a:ea typeface="Arial"/>
                <a:cs typeface="Arial"/>
                <a:sym typeface="Arial"/>
              </a:rPr>
              <a:t>03</a:t>
            </a:r>
            <a:endParaRPr b="0" i="0" sz="750" u="none" cap="none" strike="noStrike">
              <a:solidFill>
                <a:schemeClr val="dk1"/>
              </a:solidFill>
              <a:latin typeface="Calibri"/>
              <a:ea typeface="Calibri"/>
              <a:cs typeface="Calibri"/>
              <a:sym typeface="Calibri"/>
            </a:endParaRPr>
          </a:p>
        </p:txBody>
      </p:sp>
      <p:sp>
        <p:nvSpPr>
          <p:cNvPr id="85" name="Google Shape;85;p15"/>
          <p:cNvSpPr/>
          <p:nvPr/>
        </p:nvSpPr>
        <p:spPr>
          <a:xfrm>
            <a:off x="676656" y="2514600"/>
            <a:ext cx="210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950"/>
              <a:buFont typeface="Arial"/>
              <a:buNone/>
            </a:pPr>
            <a:r>
              <a:rPr b="1" i="0" lang="en" sz="950" u="none" cap="none" strike="noStrike">
                <a:solidFill>
                  <a:srgbClr val="3C4043"/>
                </a:solidFill>
                <a:latin typeface="Arial"/>
                <a:ea typeface="Arial"/>
                <a:cs typeface="Arial"/>
                <a:sym typeface="Arial"/>
              </a:rPr>
              <a:t>Foundational Services</a:t>
            </a:r>
            <a:endParaRPr b="0" i="0" sz="950" u="none" cap="none" strike="noStrike">
              <a:solidFill>
                <a:schemeClr val="dk1"/>
              </a:solidFill>
              <a:latin typeface="Calibri"/>
              <a:ea typeface="Calibri"/>
              <a:cs typeface="Calibri"/>
              <a:sym typeface="Calibri"/>
            </a:endParaRPr>
          </a:p>
        </p:txBody>
      </p:sp>
      <p:sp>
        <p:nvSpPr>
          <p:cNvPr id="86" name="Google Shape;86;p15"/>
          <p:cNvSpPr/>
          <p:nvPr/>
        </p:nvSpPr>
        <p:spPr>
          <a:xfrm>
            <a:off x="676656" y="2715768"/>
            <a:ext cx="210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9E9E"/>
              </a:buClr>
              <a:buSzPts val="750"/>
              <a:buFont typeface="Arial"/>
              <a:buNone/>
            </a:pPr>
            <a:r>
              <a:rPr i="0" lang="en" sz="750" u="none" cap="none" strike="noStrike">
                <a:solidFill>
                  <a:srgbClr val="9E9E9E"/>
                </a:solidFill>
              </a:rPr>
              <a:t>Configure 25-30 core GCP services</a:t>
            </a:r>
            <a:endParaRPr i="0" sz="750" u="none" cap="none" strike="noStrike">
              <a:solidFill>
                <a:schemeClr val="dk1"/>
              </a:solidFill>
            </a:endParaRPr>
          </a:p>
        </p:txBody>
      </p:sp>
      <p:sp>
        <p:nvSpPr>
          <p:cNvPr id="87" name="Google Shape;87;p15"/>
          <p:cNvSpPr/>
          <p:nvPr/>
        </p:nvSpPr>
        <p:spPr>
          <a:xfrm>
            <a:off x="1559052" y="2953512"/>
            <a:ext cx="36600" cy="50400"/>
          </a:xfrm>
          <a:prstGeom prst="rect">
            <a:avLst/>
          </a:prstGeom>
          <a:solidFill>
            <a:srgbClr val="BDBDBD"/>
          </a:solidFill>
          <a:ln cap="flat" cmpd="sng" w="12700">
            <a:solidFill>
              <a:srgbClr val="BDBD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274320" y="3003804"/>
            <a:ext cx="2606100" cy="530400"/>
          </a:xfrm>
          <a:prstGeom prst="rect">
            <a:avLst/>
          </a:prstGeom>
          <a:solidFill>
            <a:srgbClr val="FFFFFF"/>
          </a:solidFill>
          <a:ln cap="flat" cmpd="sng" w="9525">
            <a:solidFill>
              <a:srgbClr val="DADC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5"/>
          <p:cNvSpPr/>
          <p:nvPr/>
        </p:nvSpPr>
        <p:spPr>
          <a:xfrm>
            <a:off x="274320" y="3003804"/>
            <a:ext cx="54900" cy="530400"/>
          </a:xfrm>
          <a:prstGeom prst="rect">
            <a:avLst/>
          </a:prstGeom>
          <a:solidFill>
            <a:srgbClr val="4285F4"/>
          </a:solidFill>
          <a:ln cap="flat" cmpd="sng" w="12700">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365760" y="3095244"/>
            <a:ext cx="274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85F4"/>
              </a:buClr>
              <a:buSzPts val="750"/>
              <a:buFont typeface="Arial"/>
              <a:buNone/>
            </a:pPr>
            <a:r>
              <a:rPr b="1" i="0" lang="en" sz="750" u="none" cap="none" strike="noStrike">
                <a:solidFill>
                  <a:srgbClr val="4285F4"/>
                </a:solidFill>
                <a:latin typeface="Arial"/>
                <a:ea typeface="Arial"/>
                <a:cs typeface="Arial"/>
                <a:sym typeface="Arial"/>
              </a:rPr>
              <a:t>04</a:t>
            </a:r>
            <a:endParaRPr b="0" i="0" sz="750" u="none" cap="none" strike="noStrike">
              <a:solidFill>
                <a:schemeClr val="dk1"/>
              </a:solidFill>
              <a:latin typeface="Calibri"/>
              <a:ea typeface="Calibri"/>
              <a:cs typeface="Calibri"/>
              <a:sym typeface="Calibri"/>
            </a:endParaRPr>
          </a:p>
        </p:txBody>
      </p:sp>
      <p:sp>
        <p:nvSpPr>
          <p:cNvPr id="91" name="Google Shape;91;p15"/>
          <p:cNvSpPr/>
          <p:nvPr/>
        </p:nvSpPr>
        <p:spPr>
          <a:xfrm>
            <a:off x="676656" y="3095244"/>
            <a:ext cx="21030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950"/>
              <a:buFont typeface="Arial"/>
              <a:buNone/>
            </a:pPr>
            <a:r>
              <a:rPr b="1" i="0" lang="en" sz="950" u="none" cap="none" strike="noStrike">
                <a:solidFill>
                  <a:srgbClr val="3C4043"/>
                </a:solidFill>
                <a:latin typeface="Arial"/>
                <a:ea typeface="Arial"/>
                <a:cs typeface="Arial"/>
                <a:sym typeface="Arial"/>
              </a:rPr>
              <a:t>Audit the Flow</a:t>
            </a:r>
            <a:endParaRPr b="0" i="0" sz="950" u="none" cap="none" strike="noStrike">
              <a:solidFill>
                <a:schemeClr val="dk1"/>
              </a:solidFill>
              <a:latin typeface="Calibri"/>
              <a:ea typeface="Calibri"/>
              <a:cs typeface="Calibri"/>
              <a:sym typeface="Calibri"/>
            </a:endParaRPr>
          </a:p>
        </p:txBody>
      </p:sp>
      <p:sp>
        <p:nvSpPr>
          <p:cNvPr id="92" name="Google Shape;92;p15"/>
          <p:cNvSpPr/>
          <p:nvPr/>
        </p:nvSpPr>
        <p:spPr>
          <a:xfrm>
            <a:off x="676656" y="3296412"/>
            <a:ext cx="21030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E9E9E"/>
              </a:buClr>
              <a:buSzPts val="750"/>
              <a:buFont typeface="Arial"/>
              <a:buNone/>
            </a:pPr>
            <a:r>
              <a:rPr i="0" lang="en" sz="750" u="none" cap="none" strike="noStrike">
                <a:solidFill>
                  <a:srgbClr val="9E9E9E"/>
                </a:solidFill>
              </a:rPr>
              <a:t>3-line defense: execute, monitor, gather</a:t>
            </a:r>
            <a:endParaRPr i="0" sz="750" u="none" cap="none" strike="noStrike">
              <a:solidFill>
                <a:schemeClr val="dk1"/>
              </a:solidFill>
            </a:endParaRPr>
          </a:p>
        </p:txBody>
      </p:sp>
      <p:sp>
        <p:nvSpPr>
          <p:cNvPr id="93" name="Google Shape;93;p15"/>
          <p:cNvSpPr/>
          <p:nvPr/>
        </p:nvSpPr>
        <p:spPr>
          <a:xfrm>
            <a:off x="1559052" y="3534156"/>
            <a:ext cx="36600" cy="504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p:nvPr/>
        </p:nvSpPr>
        <p:spPr>
          <a:xfrm>
            <a:off x="274320" y="3429000"/>
            <a:ext cx="2606100" cy="1554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A4335"/>
              </a:buClr>
              <a:buSzPts val="750"/>
              <a:buFont typeface="Arial"/>
              <a:buNone/>
            </a:pPr>
            <a:r>
              <a:rPr b="0" i="1" lang="en" sz="750" u="none" cap="none" strike="noStrike">
                <a:solidFill>
                  <a:srgbClr val="EA4335"/>
                </a:solidFill>
                <a:latin typeface="Arial"/>
                <a:ea typeface="Arial"/>
                <a:cs typeface="Arial"/>
                <a:sym typeface="Arial"/>
              </a:rPr>
              <a:t>↑  Where it breaks</a:t>
            </a:r>
            <a:endParaRPr b="0" i="0" sz="750" u="none" cap="none" strike="noStrike">
              <a:solidFill>
                <a:schemeClr val="dk1"/>
              </a:solidFill>
              <a:latin typeface="Calibri"/>
              <a:ea typeface="Calibri"/>
              <a:cs typeface="Calibri"/>
              <a:sym typeface="Calibri"/>
            </a:endParaRPr>
          </a:p>
        </p:txBody>
      </p:sp>
      <p:cxnSp>
        <p:nvCxnSpPr>
          <p:cNvPr id="95" name="Google Shape;95;p15"/>
          <p:cNvCxnSpPr/>
          <p:nvPr/>
        </p:nvCxnSpPr>
        <p:spPr>
          <a:xfrm>
            <a:off x="457200" y="3584448"/>
            <a:ext cx="0" cy="1184100"/>
          </a:xfrm>
          <a:prstGeom prst="straightConnector1">
            <a:avLst/>
          </a:prstGeom>
          <a:noFill/>
          <a:ln cap="flat" cmpd="sng" w="19050">
            <a:solidFill>
              <a:srgbClr val="EA4335"/>
            </a:solidFill>
            <a:prstDash val="solid"/>
            <a:round/>
            <a:headEnd len="sm" w="sm" type="none"/>
            <a:tailEnd len="sm" w="sm" type="none"/>
          </a:ln>
        </p:spPr>
      </p:cxnSp>
      <p:sp>
        <p:nvSpPr>
          <p:cNvPr id="96" name="Google Shape;96;p15"/>
          <p:cNvSpPr/>
          <p:nvPr/>
        </p:nvSpPr>
        <p:spPr>
          <a:xfrm>
            <a:off x="502920" y="3584448"/>
            <a:ext cx="2377500" cy="567000"/>
          </a:xfrm>
          <a:prstGeom prst="rect">
            <a:avLst/>
          </a:prstGeom>
          <a:solidFill>
            <a:srgbClr val="FFF3F3"/>
          </a:solidFill>
          <a:ln cap="flat" cmpd="sng" w="15225">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502920" y="3584448"/>
            <a:ext cx="45600" cy="5670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576072" y="3657600"/>
            <a:ext cx="2559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4335"/>
              </a:buClr>
              <a:buSzPts val="750"/>
              <a:buFont typeface="Arial"/>
              <a:buNone/>
            </a:pPr>
            <a:r>
              <a:rPr b="1" i="0" lang="en" sz="750" u="none" cap="none" strike="noStrike">
                <a:solidFill>
                  <a:srgbClr val="EA4335"/>
                </a:solidFill>
                <a:latin typeface="Arial"/>
                <a:ea typeface="Arial"/>
                <a:cs typeface="Arial"/>
                <a:sym typeface="Arial"/>
              </a:rPr>
              <a:t>05</a:t>
            </a:r>
            <a:endParaRPr b="0" i="0" sz="750" u="none" cap="none" strike="noStrike">
              <a:solidFill>
                <a:schemeClr val="dk1"/>
              </a:solidFill>
              <a:latin typeface="Calibri"/>
              <a:ea typeface="Calibri"/>
              <a:cs typeface="Calibri"/>
              <a:sym typeface="Calibri"/>
            </a:endParaRPr>
          </a:p>
        </p:txBody>
      </p:sp>
      <p:sp>
        <p:nvSpPr>
          <p:cNvPr id="99" name="Google Shape;99;p15"/>
          <p:cNvSpPr/>
          <p:nvPr/>
        </p:nvSpPr>
        <p:spPr>
          <a:xfrm>
            <a:off x="850392" y="3657600"/>
            <a:ext cx="197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221F"/>
              </a:buClr>
              <a:buSzPts val="900"/>
              <a:buFont typeface="Arial"/>
              <a:buNone/>
            </a:pPr>
            <a:r>
              <a:rPr b="1" i="0" lang="en" sz="900" u="none" cap="none" strike="noStrike">
                <a:solidFill>
                  <a:srgbClr val="C5221F"/>
                </a:solidFill>
                <a:latin typeface="Arial"/>
                <a:ea typeface="Arial"/>
                <a:cs typeface="Arial"/>
                <a:sym typeface="Arial"/>
              </a:rPr>
              <a:t>Create Mapping Spreadsheet</a:t>
            </a:r>
            <a:endParaRPr b="0" i="0" sz="900" u="none" cap="none" strike="noStrike">
              <a:solidFill>
                <a:schemeClr val="dk1"/>
              </a:solidFill>
              <a:latin typeface="Calibri"/>
              <a:ea typeface="Calibri"/>
              <a:cs typeface="Calibri"/>
              <a:sym typeface="Calibri"/>
            </a:endParaRPr>
          </a:p>
        </p:txBody>
      </p:sp>
      <p:sp>
        <p:nvSpPr>
          <p:cNvPr id="100" name="Google Shape;100;p15"/>
          <p:cNvSpPr/>
          <p:nvPr/>
        </p:nvSpPr>
        <p:spPr>
          <a:xfrm>
            <a:off x="850392" y="3858768"/>
            <a:ext cx="1975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7373"/>
              </a:buClr>
              <a:buSzPts val="750"/>
              <a:buFont typeface="Arial"/>
              <a:buNone/>
            </a:pPr>
            <a:r>
              <a:rPr i="0" lang="en" sz="750" u="none" cap="none" strike="noStrike">
                <a:solidFill>
                  <a:srgbClr val="E57373"/>
                </a:solidFill>
              </a:rPr>
              <a:t>Manually map NIST controls to GCP services in a spreadsheet</a:t>
            </a:r>
            <a:endParaRPr i="0" sz="750" u="none" cap="none" strike="noStrike">
              <a:solidFill>
                <a:schemeClr val="dk1"/>
              </a:solidFill>
            </a:endParaRPr>
          </a:p>
        </p:txBody>
      </p:sp>
      <p:sp>
        <p:nvSpPr>
          <p:cNvPr id="101" name="Google Shape;101;p15"/>
          <p:cNvSpPr/>
          <p:nvPr/>
        </p:nvSpPr>
        <p:spPr>
          <a:xfrm>
            <a:off x="1673352" y="4151376"/>
            <a:ext cx="36600" cy="504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5"/>
          <p:cNvSpPr/>
          <p:nvPr/>
        </p:nvSpPr>
        <p:spPr>
          <a:xfrm>
            <a:off x="502920" y="4201668"/>
            <a:ext cx="2377500" cy="567000"/>
          </a:xfrm>
          <a:prstGeom prst="rect">
            <a:avLst/>
          </a:prstGeom>
          <a:solidFill>
            <a:srgbClr val="FFF3F3"/>
          </a:solidFill>
          <a:ln cap="flat" cmpd="sng" w="15225">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5"/>
          <p:cNvSpPr/>
          <p:nvPr/>
        </p:nvSpPr>
        <p:spPr>
          <a:xfrm>
            <a:off x="502920" y="4201668"/>
            <a:ext cx="45600" cy="5670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576072" y="4274820"/>
            <a:ext cx="2559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4335"/>
              </a:buClr>
              <a:buSzPts val="750"/>
              <a:buFont typeface="Arial"/>
              <a:buNone/>
            </a:pPr>
            <a:r>
              <a:rPr b="1" i="0" lang="en" sz="750" u="none" cap="none" strike="noStrike">
                <a:solidFill>
                  <a:srgbClr val="EA4335"/>
                </a:solidFill>
                <a:latin typeface="Arial"/>
                <a:ea typeface="Arial"/>
                <a:cs typeface="Arial"/>
                <a:sym typeface="Arial"/>
              </a:rPr>
              <a:t>06</a:t>
            </a:r>
            <a:endParaRPr b="0" i="0" sz="750" u="none" cap="none" strike="noStrike">
              <a:solidFill>
                <a:schemeClr val="dk1"/>
              </a:solidFill>
              <a:latin typeface="Calibri"/>
              <a:ea typeface="Calibri"/>
              <a:cs typeface="Calibri"/>
              <a:sym typeface="Calibri"/>
            </a:endParaRPr>
          </a:p>
        </p:txBody>
      </p:sp>
      <p:sp>
        <p:nvSpPr>
          <p:cNvPr id="105" name="Google Shape;105;p15"/>
          <p:cNvSpPr/>
          <p:nvPr/>
        </p:nvSpPr>
        <p:spPr>
          <a:xfrm>
            <a:off x="850392" y="4274820"/>
            <a:ext cx="19752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5221F"/>
              </a:buClr>
              <a:buSzPts val="900"/>
              <a:buFont typeface="Arial"/>
              <a:buNone/>
            </a:pPr>
            <a:r>
              <a:rPr b="1" i="0" lang="en" sz="900" u="none" cap="none" strike="noStrike">
                <a:solidFill>
                  <a:srgbClr val="C5221F"/>
                </a:solidFill>
                <a:latin typeface="Arial"/>
                <a:ea typeface="Arial"/>
                <a:cs typeface="Arial"/>
                <a:sym typeface="Arial"/>
              </a:rPr>
              <a:t>Check Logs &amp; Screenshots</a:t>
            </a:r>
            <a:endParaRPr b="0" i="0" sz="900" u="none" cap="none" strike="noStrike">
              <a:solidFill>
                <a:schemeClr val="dk1"/>
              </a:solidFill>
              <a:latin typeface="Calibri"/>
              <a:ea typeface="Calibri"/>
              <a:cs typeface="Calibri"/>
              <a:sym typeface="Calibri"/>
            </a:endParaRPr>
          </a:p>
        </p:txBody>
      </p:sp>
      <p:sp>
        <p:nvSpPr>
          <p:cNvPr id="106" name="Google Shape;106;p15"/>
          <p:cNvSpPr/>
          <p:nvPr/>
        </p:nvSpPr>
        <p:spPr>
          <a:xfrm>
            <a:off x="850392" y="4475988"/>
            <a:ext cx="1975200" cy="16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57373"/>
              </a:buClr>
              <a:buSzPts val="750"/>
              <a:buFont typeface="Arial"/>
              <a:buNone/>
            </a:pPr>
            <a:r>
              <a:rPr i="0" lang="en" sz="750" u="none" cap="none" strike="noStrike">
                <a:solidFill>
                  <a:srgbClr val="E57373"/>
                </a:solidFill>
              </a:rPr>
              <a:t>Check logs via Screenwalk and capture screenshots as audit evidence</a:t>
            </a:r>
            <a:endParaRPr i="0" sz="750" u="none" cap="none" strike="noStrike">
              <a:solidFill>
                <a:schemeClr val="dk1"/>
              </a:solidFill>
            </a:endParaRPr>
          </a:p>
        </p:txBody>
      </p:sp>
      <p:cxnSp>
        <p:nvCxnSpPr>
          <p:cNvPr id="107" name="Google Shape;107;p15"/>
          <p:cNvCxnSpPr/>
          <p:nvPr/>
        </p:nvCxnSpPr>
        <p:spPr>
          <a:xfrm>
            <a:off x="3035808" y="1005840"/>
            <a:ext cx="0" cy="3684900"/>
          </a:xfrm>
          <a:prstGeom prst="straightConnector1">
            <a:avLst/>
          </a:prstGeom>
          <a:noFill/>
          <a:ln cap="flat" cmpd="sng" w="10150">
            <a:solidFill>
              <a:srgbClr val="DADCE0"/>
            </a:solidFill>
            <a:prstDash val="solid"/>
            <a:round/>
            <a:headEnd len="sm" w="sm" type="none"/>
            <a:tailEnd len="sm" w="sm" type="none"/>
          </a:ln>
        </p:spPr>
      </p:cxnSp>
      <p:grpSp>
        <p:nvGrpSpPr>
          <p:cNvPr id="108" name="Google Shape;108;p15"/>
          <p:cNvGrpSpPr/>
          <p:nvPr/>
        </p:nvGrpSpPr>
        <p:grpSpPr>
          <a:xfrm>
            <a:off x="3127568" y="987751"/>
            <a:ext cx="5742281" cy="3781030"/>
            <a:chOff x="3703320" y="1062990"/>
            <a:chExt cx="5212200" cy="3874800"/>
          </a:xfrm>
        </p:grpSpPr>
        <p:sp>
          <p:nvSpPr>
            <p:cNvPr id="109" name="Google Shape;109;p15"/>
            <p:cNvSpPr/>
            <p:nvPr/>
          </p:nvSpPr>
          <p:spPr>
            <a:xfrm>
              <a:off x="3703320" y="1062990"/>
              <a:ext cx="5212200" cy="3874800"/>
            </a:xfrm>
            <a:prstGeom prst="rect">
              <a:avLst/>
            </a:prstGeom>
            <a:solidFill>
              <a:srgbClr val="FFFFFF"/>
            </a:solidFill>
            <a:ln cap="flat" cmpd="sng" w="12700">
              <a:solidFill>
                <a:srgbClr val="DDDDD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15"/>
            <p:cNvSpPr/>
            <p:nvPr/>
          </p:nvSpPr>
          <p:spPr>
            <a:xfrm>
              <a:off x="3703320" y="1062990"/>
              <a:ext cx="5212200" cy="240000"/>
            </a:xfrm>
            <a:prstGeom prst="rect">
              <a:avLst/>
            </a:prstGeom>
            <a:solidFill>
              <a:srgbClr val="F0F0F0"/>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555555"/>
                </a:buClr>
                <a:buSzPts val="700"/>
                <a:buFont typeface="Arial"/>
                <a:buNone/>
              </a:pPr>
              <a:r>
                <a:rPr b="1" i="0" lang="en" sz="700" u="none" cap="none" strike="noStrike">
                  <a:solidFill>
                    <a:srgbClr val="555555"/>
                  </a:solidFill>
                  <a:latin typeface="Arial"/>
                  <a:ea typeface="Arial"/>
                  <a:cs typeface="Arial"/>
                  <a:sym typeface="Arial"/>
                </a:rPr>
                <a:t>PROBLEMS</a:t>
              </a:r>
              <a:endParaRPr b="0" i="0" sz="700" u="none" cap="none" strike="noStrike">
                <a:solidFill>
                  <a:schemeClr val="dk1"/>
                </a:solidFill>
                <a:latin typeface="Calibri"/>
                <a:ea typeface="Calibri"/>
                <a:cs typeface="Calibri"/>
                <a:sym typeface="Calibri"/>
              </a:endParaRPr>
            </a:p>
          </p:txBody>
        </p:sp>
        <p:sp>
          <p:nvSpPr>
            <p:cNvPr id="111" name="Google Shape;111;p15"/>
            <p:cNvSpPr/>
            <p:nvPr/>
          </p:nvSpPr>
          <p:spPr>
            <a:xfrm>
              <a:off x="3703320" y="1303020"/>
              <a:ext cx="5212200" cy="68700"/>
            </a:xfrm>
            <a:prstGeom prst="rect">
              <a:avLst/>
            </a:prstGeom>
            <a:solidFill>
              <a:srgbClr val="4285F4"/>
            </a:solidFill>
            <a:ln cap="flat" cmpd="sng" w="12700">
              <a:solidFill>
                <a:srgbClr val="4285F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5"/>
            <p:cNvSpPr/>
            <p:nvPr/>
          </p:nvSpPr>
          <p:spPr>
            <a:xfrm>
              <a:off x="3874770" y="1385316"/>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1000"/>
                <a:buFont typeface="Arial"/>
                <a:buNone/>
              </a:pPr>
              <a:r>
                <a:rPr b="1" i="0" lang="en" sz="1000" u="none" cap="none" strike="noStrike">
                  <a:solidFill>
                    <a:srgbClr val="1A1A1A"/>
                  </a:solidFill>
                  <a:latin typeface="Arial"/>
                  <a:ea typeface="Arial"/>
                  <a:cs typeface="Arial"/>
                  <a:sym typeface="Arial"/>
                </a:rPr>
                <a:t>Mapping Gap</a:t>
              </a:r>
              <a:endParaRPr b="0" i="0" sz="1000" u="none" cap="none" strike="noStrike">
                <a:solidFill>
                  <a:schemeClr val="dk1"/>
                </a:solidFill>
                <a:latin typeface="Calibri"/>
                <a:ea typeface="Calibri"/>
                <a:cs typeface="Calibri"/>
                <a:sym typeface="Calibri"/>
              </a:endParaRPr>
            </a:p>
          </p:txBody>
        </p:sp>
        <p:sp>
          <p:nvSpPr>
            <p:cNvPr id="113" name="Google Shape;113;p15"/>
            <p:cNvSpPr/>
            <p:nvPr/>
          </p:nvSpPr>
          <p:spPr>
            <a:xfrm>
              <a:off x="3874770" y="1645920"/>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700"/>
                <a:buFont typeface="Arial"/>
                <a:buNone/>
              </a:pPr>
              <a:r>
                <a:rPr b="1" i="0" lang="en" sz="750" u="none" cap="none" strike="noStrike">
                  <a:solidFill>
                    <a:srgbClr val="1A1A1A"/>
                  </a:solidFill>
                  <a:latin typeface="Arial"/>
                  <a:ea typeface="Arial"/>
                  <a:cs typeface="Arial"/>
                  <a:sym typeface="Arial"/>
                </a:rPr>
                <a:t>Root Cause: </a:t>
              </a:r>
              <a:r>
                <a:rPr b="0" i="0" lang="en" sz="750" u="none" cap="none" strike="noStrike">
                  <a:solidFill>
                    <a:srgbClr val="333333"/>
                  </a:solidFill>
                  <a:latin typeface="Arial"/>
                  <a:ea typeface="Arial"/>
                  <a:cs typeface="Arial"/>
                  <a:sym typeface="Arial"/>
                </a:rPr>
                <a:t>No standardized framework exists to map regulatory controls to GCP services.</a:t>
              </a:r>
              <a:endParaRPr b="0" i="0" sz="750" u="none" cap="none" strike="noStrike">
                <a:solidFill>
                  <a:schemeClr val="dk1"/>
                </a:solidFill>
                <a:latin typeface="Calibri"/>
                <a:ea typeface="Calibri"/>
                <a:cs typeface="Calibri"/>
                <a:sym typeface="Calibri"/>
              </a:endParaRPr>
            </a:p>
          </p:txBody>
        </p:sp>
        <p:sp>
          <p:nvSpPr>
            <p:cNvPr id="114" name="Google Shape;114;p15"/>
            <p:cNvSpPr/>
            <p:nvPr/>
          </p:nvSpPr>
          <p:spPr>
            <a:xfrm>
              <a:off x="3874770" y="1885950"/>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700"/>
                <a:buFont typeface="Arial"/>
                <a:buNone/>
              </a:pPr>
              <a:r>
                <a:rPr b="1" i="0" lang="en" sz="750" u="none" cap="none" strike="noStrike">
                  <a:solidFill>
                    <a:srgbClr val="1A1A1A"/>
                  </a:solidFill>
                  <a:latin typeface="Arial"/>
                  <a:ea typeface="Arial"/>
                  <a:cs typeface="Arial"/>
                  <a:sym typeface="Arial"/>
                </a:rPr>
                <a:t>Impact: </a:t>
              </a:r>
              <a:r>
                <a:rPr b="0" i="0" lang="en" sz="750" u="none" cap="none" strike="noStrike">
                  <a:solidFill>
                    <a:srgbClr val="333333"/>
                  </a:solidFill>
                  <a:latin typeface="Arial"/>
                  <a:ea typeface="Arial"/>
                  <a:cs typeface="Arial"/>
                  <a:sym typeface="Arial"/>
                </a:rPr>
                <a:t>60% of GCP services have no compliance definition and are handled manually.</a:t>
              </a:r>
              <a:endParaRPr b="0" i="0" sz="750" u="none" cap="none" strike="noStrike">
                <a:solidFill>
                  <a:schemeClr val="dk1"/>
                </a:solidFill>
                <a:latin typeface="Calibri"/>
                <a:ea typeface="Calibri"/>
                <a:cs typeface="Calibri"/>
                <a:sym typeface="Calibri"/>
              </a:endParaRPr>
            </a:p>
          </p:txBody>
        </p:sp>
        <p:sp>
          <p:nvSpPr>
            <p:cNvPr id="115" name="Google Shape;115;p15"/>
            <p:cNvSpPr/>
            <p:nvPr/>
          </p:nvSpPr>
          <p:spPr>
            <a:xfrm>
              <a:off x="7646670" y="1371600"/>
              <a:ext cx="1097400" cy="771600"/>
            </a:xfrm>
            <a:prstGeom prst="rect">
              <a:avLst/>
            </a:prstGeom>
            <a:solidFill>
              <a:srgbClr val="4285F4"/>
            </a:solidFill>
            <a:ln cap="flat" cmpd="sng" w="12700">
              <a:solidFill>
                <a:srgbClr val="4285F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5"/>
            <p:cNvSpPr/>
            <p:nvPr/>
          </p:nvSpPr>
          <p:spPr>
            <a:xfrm>
              <a:off x="7646670" y="1371600"/>
              <a:ext cx="1097400" cy="4629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rgbClr val="FFFFFF"/>
                </a:buClr>
                <a:buSzPts val="1700"/>
                <a:buFont typeface="Arial"/>
                <a:buNone/>
              </a:pPr>
              <a:r>
                <a:rPr b="1" i="0" lang="en" sz="1700" u="none" cap="none" strike="noStrike">
                  <a:solidFill>
                    <a:srgbClr val="FFFFFF"/>
                  </a:solidFill>
                  <a:latin typeface="Arial"/>
                  <a:ea typeface="Arial"/>
                  <a:cs typeface="Arial"/>
                  <a:sym typeface="Arial"/>
                </a:rPr>
                <a:t>~40%</a:t>
              </a:r>
              <a:endParaRPr b="0" i="0" sz="1700" u="none" cap="none" strike="noStrike">
                <a:solidFill>
                  <a:schemeClr val="dk1"/>
                </a:solidFill>
                <a:latin typeface="Calibri"/>
                <a:ea typeface="Calibri"/>
                <a:cs typeface="Calibri"/>
                <a:sym typeface="Calibri"/>
              </a:endParaRPr>
            </a:p>
          </p:txBody>
        </p:sp>
        <p:sp>
          <p:nvSpPr>
            <p:cNvPr id="117" name="Google Shape;117;p15"/>
            <p:cNvSpPr/>
            <p:nvPr/>
          </p:nvSpPr>
          <p:spPr>
            <a:xfrm>
              <a:off x="7646670" y="1834515"/>
              <a:ext cx="1097400" cy="308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FFFFFF"/>
                </a:buClr>
                <a:buSzPts val="700"/>
                <a:buFont typeface="Arial"/>
                <a:buNone/>
              </a:pPr>
              <a:r>
                <a:rPr b="0" i="0" lang="en" sz="700" u="none" cap="none" strike="noStrike">
                  <a:solidFill>
                    <a:srgbClr val="FFFFFF"/>
                  </a:solidFill>
                  <a:latin typeface="Arial"/>
                  <a:ea typeface="Arial"/>
                  <a:cs typeface="Arial"/>
                  <a:sym typeface="Arial"/>
                </a:rPr>
                <a:t>GCP mapped</a:t>
              </a:r>
              <a:endParaRPr b="0" i="0" sz="700" u="none" cap="none" strike="noStrike">
                <a:solidFill>
                  <a:schemeClr val="dk1"/>
                </a:solidFill>
                <a:latin typeface="Calibri"/>
                <a:ea typeface="Calibri"/>
                <a:cs typeface="Calibri"/>
                <a:sym typeface="Calibri"/>
              </a:endParaRPr>
            </a:p>
          </p:txBody>
        </p:sp>
        <p:cxnSp>
          <p:nvCxnSpPr>
            <p:cNvPr id="118" name="Google Shape;118;p15"/>
            <p:cNvCxnSpPr/>
            <p:nvPr/>
          </p:nvCxnSpPr>
          <p:spPr>
            <a:xfrm>
              <a:off x="3703320" y="2211705"/>
              <a:ext cx="5212200" cy="0"/>
            </a:xfrm>
            <a:prstGeom prst="straightConnector1">
              <a:avLst/>
            </a:prstGeom>
            <a:noFill/>
            <a:ln cap="flat" cmpd="sng" w="9525">
              <a:solidFill>
                <a:srgbClr val="DDDDDD"/>
              </a:solidFill>
              <a:prstDash val="solid"/>
              <a:round/>
              <a:headEnd len="sm" w="sm" type="none"/>
              <a:tailEnd len="sm" w="sm" type="none"/>
            </a:ln>
          </p:spPr>
        </p:cxnSp>
        <p:sp>
          <p:nvSpPr>
            <p:cNvPr id="119" name="Google Shape;119;p15"/>
            <p:cNvSpPr/>
            <p:nvPr/>
          </p:nvSpPr>
          <p:spPr>
            <a:xfrm>
              <a:off x="3703320" y="2211705"/>
              <a:ext cx="5212200" cy="687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5"/>
            <p:cNvSpPr/>
            <p:nvPr/>
          </p:nvSpPr>
          <p:spPr>
            <a:xfrm>
              <a:off x="3874770" y="2294001"/>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1000"/>
                <a:buFont typeface="Arial"/>
                <a:buNone/>
              </a:pPr>
              <a:r>
                <a:rPr b="1" i="0" lang="en" sz="1000" u="none" cap="none" strike="noStrike">
                  <a:solidFill>
                    <a:srgbClr val="1A1A1A"/>
                  </a:solidFill>
                  <a:latin typeface="Arial"/>
                  <a:ea typeface="Arial"/>
                  <a:cs typeface="Arial"/>
                  <a:sym typeface="Arial"/>
                </a:rPr>
                <a:t>Automated Evidence Gap</a:t>
              </a:r>
              <a:endParaRPr b="0" i="0" sz="1000" u="none" cap="none" strike="noStrike">
                <a:solidFill>
                  <a:schemeClr val="dk1"/>
                </a:solidFill>
                <a:latin typeface="Calibri"/>
                <a:ea typeface="Calibri"/>
                <a:cs typeface="Calibri"/>
                <a:sym typeface="Calibri"/>
              </a:endParaRPr>
            </a:p>
          </p:txBody>
        </p:sp>
        <p:sp>
          <p:nvSpPr>
            <p:cNvPr id="121" name="Google Shape;121;p15"/>
            <p:cNvSpPr/>
            <p:nvPr/>
          </p:nvSpPr>
          <p:spPr>
            <a:xfrm>
              <a:off x="3874770" y="2554605"/>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700"/>
                <a:buFont typeface="Arial"/>
                <a:buNone/>
              </a:pPr>
              <a:r>
                <a:rPr b="1" i="0" lang="en" sz="750" u="none" cap="none" strike="noStrike">
                  <a:solidFill>
                    <a:srgbClr val="1A1A1A"/>
                  </a:solidFill>
                  <a:latin typeface="Arial"/>
                  <a:ea typeface="Arial"/>
                  <a:cs typeface="Arial"/>
                  <a:sym typeface="Arial"/>
                </a:rPr>
                <a:t>Root Cause: </a:t>
              </a:r>
              <a:r>
                <a:rPr b="0" i="0" lang="en" sz="750" u="none" cap="none" strike="noStrike">
                  <a:solidFill>
                    <a:srgbClr val="333333"/>
                  </a:solidFill>
                  <a:latin typeface="Arial"/>
                  <a:ea typeface="Arial"/>
                  <a:cs typeface="Arial"/>
                  <a:sym typeface="Arial"/>
                </a:rPr>
                <a:t>No mechanism exists to automatically collect audit evidence from GCP.</a:t>
              </a:r>
              <a:endParaRPr b="0" i="0" sz="750" u="none" cap="none" strike="noStrike">
                <a:solidFill>
                  <a:schemeClr val="dk1"/>
                </a:solidFill>
                <a:latin typeface="Calibri"/>
                <a:ea typeface="Calibri"/>
                <a:cs typeface="Calibri"/>
                <a:sym typeface="Calibri"/>
              </a:endParaRPr>
            </a:p>
          </p:txBody>
        </p:sp>
        <p:sp>
          <p:nvSpPr>
            <p:cNvPr id="122" name="Google Shape;122;p15"/>
            <p:cNvSpPr/>
            <p:nvPr/>
          </p:nvSpPr>
          <p:spPr>
            <a:xfrm>
              <a:off x="3874770" y="2794635"/>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700"/>
                <a:buFont typeface="Arial"/>
                <a:buNone/>
              </a:pPr>
              <a:r>
                <a:rPr b="1" i="0" lang="en" sz="750" u="none" cap="none" strike="noStrike">
                  <a:solidFill>
                    <a:srgbClr val="1A1A1A"/>
                  </a:solidFill>
                  <a:latin typeface="Arial"/>
                  <a:ea typeface="Arial"/>
                  <a:cs typeface="Arial"/>
                  <a:sym typeface="Arial"/>
                </a:rPr>
                <a:t>Impact: </a:t>
              </a:r>
              <a:r>
                <a:rPr b="0" i="0" lang="en" sz="750" u="none" cap="none" strike="noStrike">
                  <a:solidFill>
                    <a:srgbClr val="333333"/>
                  </a:solidFill>
                  <a:latin typeface="Arial"/>
                  <a:ea typeface="Arial"/>
                  <a:cs typeface="Arial"/>
                  <a:sym typeface="Arial"/>
                </a:rPr>
                <a:t>Teams screenshot consoles into spreadsheets, which is unreliable and not reusable.</a:t>
              </a:r>
              <a:endParaRPr b="0" i="0" sz="750" u="none" cap="none" strike="noStrike">
                <a:solidFill>
                  <a:schemeClr val="dk1"/>
                </a:solidFill>
                <a:latin typeface="Calibri"/>
                <a:ea typeface="Calibri"/>
                <a:cs typeface="Calibri"/>
                <a:sym typeface="Calibri"/>
              </a:endParaRPr>
            </a:p>
          </p:txBody>
        </p:sp>
        <p:sp>
          <p:nvSpPr>
            <p:cNvPr id="123" name="Google Shape;123;p15"/>
            <p:cNvSpPr/>
            <p:nvPr/>
          </p:nvSpPr>
          <p:spPr>
            <a:xfrm>
              <a:off x="7646670" y="2280285"/>
              <a:ext cx="1097400" cy="7716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5"/>
            <p:cNvSpPr/>
            <p:nvPr/>
          </p:nvSpPr>
          <p:spPr>
            <a:xfrm>
              <a:off x="7646670" y="2280285"/>
              <a:ext cx="1097400" cy="4629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rgbClr val="FFFFFF"/>
                </a:buClr>
                <a:buSzPts val="1700"/>
                <a:buFont typeface="Arial"/>
                <a:buNone/>
              </a:pPr>
              <a:r>
                <a:rPr b="1" i="0" lang="en" sz="1700" u="none" cap="none" strike="noStrike">
                  <a:solidFill>
                    <a:srgbClr val="FFFFFF"/>
                  </a:solidFill>
                  <a:latin typeface="Arial"/>
                  <a:ea typeface="Arial"/>
                  <a:cs typeface="Arial"/>
                  <a:sym typeface="Arial"/>
                </a:rPr>
                <a:t>0%</a:t>
              </a:r>
              <a:endParaRPr b="0" i="0" sz="1700" u="none" cap="none" strike="noStrike">
                <a:solidFill>
                  <a:schemeClr val="dk1"/>
                </a:solidFill>
                <a:latin typeface="Calibri"/>
                <a:ea typeface="Calibri"/>
                <a:cs typeface="Calibri"/>
                <a:sym typeface="Calibri"/>
              </a:endParaRPr>
            </a:p>
          </p:txBody>
        </p:sp>
        <p:sp>
          <p:nvSpPr>
            <p:cNvPr id="125" name="Google Shape;125;p15"/>
            <p:cNvSpPr/>
            <p:nvPr/>
          </p:nvSpPr>
          <p:spPr>
            <a:xfrm>
              <a:off x="7646670" y="2743200"/>
              <a:ext cx="1097400" cy="308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FFFFFF"/>
                </a:buClr>
                <a:buSzPts val="700"/>
                <a:buFont typeface="Arial"/>
                <a:buNone/>
              </a:pPr>
              <a:r>
                <a:rPr b="0" i="0" lang="en" sz="700" u="none" cap="none" strike="noStrike">
                  <a:solidFill>
                    <a:srgbClr val="FFFFFF"/>
                  </a:solidFill>
                  <a:latin typeface="Arial"/>
                  <a:ea typeface="Arial"/>
                  <a:cs typeface="Arial"/>
                  <a:sym typeface="Arial"/>
                </a:rPr>
                <a:t>Automated</a:t>
              </a:r>
              <a:endParaRPr b="0" i="0" sz="700" u="none" cap="none" strike="noStrike">
                <a:solidFill>
                  <a:schemeClr val="dk1"/>
                </a:solidFill>
                <a:latin typeface="Calibri"/>
                <a:ea typeface="Calibri"/>
                <a:cs typeface="Calibri"/>
                <a:sym typeface="Calibri"/>
              </a:endParaRPr>
            </a:p>
          </p:txBody>
        </p:sp>
        <p:cxnSp>
          <p:nvCxnSpPr>
            <p:cNvPr id="126" name="Google Shape;126;p15"/>
            <p:cNvCxnSpPr/>
            <p:nvPr/>
          </p:nvCxnSpPr>
          <p:spPr>
            <a:xfrm>
              <a:off x="3703320" y="3120390"/>
              <a:ext cx="5212200" cy="0"/>
            </a:xfrm>
            <a:prstGeom prst="straightConnector1">
              <a:avLst/>
            </a:prstGeom>
            <a:noFill/>
            <a:ln cap="flat" cmpd="sng" w="9525">
              <a:solidFill>
                <a:srgbClr val="DDDDDD"/>
              </a:solidFill>
              <a:prstDash val="solid"/>
              <a:round/>
              <a:headEnd len="sm" w="sm" type="none"/>
              <a:tailEnd len="sm" w="sm" type="none"/>
            </a:ln>
          </p:spPr>
        </p:cxnSp>
        <p:sp>
          <p:nvSpPr>
            <p:cNvPr id="127" name="Google Shape;127;p15"/>
            <p:cNvSpPr/>
            <p:nvPr/>
          </p:nvSpPr>
          <p:spPr>
            <a:xfrm>
              <a:off x="3703320" y="3120390"/>
              <a:ext cx="5212200" cy="687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5"/>
            <p:cNvSpPr/>
            <p:nvPr/>
          </p:nvSpPr>
          <p:spPr>
            <a:xfrm>
              <a:off x="3874770" y="3202686"/>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1000"/>
                <a:buFont typeface="Arial"/>
                <a:buNone/>
              </a:pPr>
              <a:r>
                <a:rPr b="1" i="0" lang="en" sz="1000" u="none" cap="none" strike="noStrike">
                  <a:solidFill>
                    <a:srgbClr val="1A1A1A"/>
                  </a:solidFill>
                  <a:latin typeface="Arial"/>
                  <a:ea typeface="Arial"/>
                  <a:cs typeface="Arial"/>
                  <a:sym typeface="Arial"/>
                </a:rPr>
                <a:t>Monitoring Gap</a:t>
              </a:r>
              <a:endParaRPr b="0" i="0" sz="1000" u="none" cap="none" strike="noStrike">
                <a:solidFill>
                  <a:schemeClr val="dk1"/>
                </a:solidFill>
                <a:latin typeface="Calibri"/>
                <a:ea typeface="Calibri"/>
                <a:cs typeface="Calibri"/>
                <a:sym typeface="Calibri"/>
              </a:endParaRPr>
            </a:p>
          </p:txBody>
        </p:sp>
        <p:sp>
          <p:nvSpPr>
            <p:cNvPr id="129" name="Google Shape;129;p15"/>
            <p:cNvSpPr/>
            <p:nvPr/>
          </p:nvSpPr>
          <p:spPr>
            <a:xfrm>
              <a:off x="3874770" y="3463290"/>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700"/>
                <a:buFont typeface="Arial"/>
                <a:buNone/>
              </a:pPr>
              <a:r>
                <a:rPr b="1" i="0" lang="en" sz="750" u="none" cap="none" strike="noStrike">
                  <a:solidFill>
                    <a:srgbClr val="1A1A1A"/>
                  </a:solidFill>
                  <a:latin typeface="Arial"/>
                  <a:ea typeface="Arial"/>
                  <a:cs typeface="Arial"/>
                  <a:sym typeface="Arial"/>
                </a:rPr>
                <a:t>Root Cause: </a:t>
              </a:r>
              <a:r>
                <a:rPr b="0" i="0" lang="en" sz="750" u="none" cap="none" strike="noStrike">
                  <a:solidFill>
                    <a:srgbClr val="333333"/>
                  </a:solidFill>
                  <a:latin typeface="Arial"/>
                  <a:ea typeface="Arial"/>
                  <a:cs typeface="Arial"/>
                  <a:sym typeface="Arial"/>
                </a:rPr>
                <a:t>Controls are validated only at audit time and never on a continuous basis.</a:t>
              </a:r>
              <a:endParaRPr b="0" i="0" sz="750" u="none" cap="none" strike="noStrike">
                <a:solidFill>
                  <a:schemeClr val="dk1"/>
                </a:solidFill>
                <a:latin typeface="Calibri"/>
                <a:ea typeface="Calibri"/>
                <a:cs typeface="Calibri"/>
                <a:sym typeface="Calibri"/>
              </a:endParaRPr>
            </a:p>
          </p:txBody>
        </p:sp>
        <p:sp>
          <p:nvSpPr>
            <p:cNvPr id="130" name="Google Shape;130;p15"/>
            <p:cNvSpPr/>
            <p:nvPr/>
          </p:nvSpPr>
          <p:spPr>
            <a:xfrm>
              <a:off x="3874770" y="3703320"/>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700"/>
                <a:buFont typeface="Arial"/>
                <a:buNone/>
              </a:pPr>
              <a:r>
                <a:rPr b="1" i="0" lang="en" sz="750" u="none" cap="none" strike="noStrike">
                  <a:solidFill>
                    <a:srgbClr val="1A1A1A"/>
                  </a:solidFill>
                  <a:latin typeface="Arial"/>
                  <a:ea typeface="Arial"/>
                  <a:cs typeface="Arial"/>
                  <a:sym typeface="Arial"/>
                </a:rPr>
                <a:t>Impact: </a:t>
              </a:r>
              <a:r>
                <a:rPr b="0" i="0" lang="en" sz="750" u="none" cap="none" strike="noStrike">
                  <a:solidFill>
                    <a:srgbClr val="333333"/>
                  </a:solidFill>
                  <a:latin typeface="Arial"/>
                  <a:ea typeface="Arial"/>
                  <a:cs typeface="Arial"/>
                  <a:sym typeface="Arial"/>
                </a:rPr>
                <a:t>Configuration drift goes undetected for months, creating compounding compliance risk.</a:t>
              </a:r>
              <a:endParaRPr b="0" i="0" sz="750" u="none" cap="none" strike="noStrike">
                <a:solidFill>
                  <a:schemeClr val="dk1"/>
                </a:solidFill>
                <a:latin typeface="Calibri"/>
                <a:ea typeface="Calibri"/>
                <a:cs typeface="Calibri"/>
                <a:sym typeface="Calibri"/>
              </a:endParaRPr>
            </a:p>
          </p:txBody>
        </p:sp>
        <p:sp>
          <p:nvSpPr>
            <p:cNvPr id="131" name="Google Shape;131;p15"/>
            <p:cNvSpPr/>
            <p:nvPr/>
          </p:nvSpPr>
          <p:spPr>
            <a:xfrm>
              <a:off x="7646670" y="3188970"/>
              <a:ext cx="1097400" cy="7716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2" name="Google Shape;132;p15"/>
            <p:cNvSpPr/>
            <p:nvPr/>
          </p:nvSpPr>
          <p:spPr>
            <a:xfrm>
              <a:off x="7646670" y="3188970"/>
              <a:ext cx="1097400" cy="4629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1×/yr</a:t>
              </a:r>
              <a:endParaRPr b="0" i="0" sz="1200" u="none" cap="none" strike="noStrike">
                <a:solidFill>
                  <a:schemeClr val="dk1"/>
                </a:solidFill>
                <a:latin typeface="Calibri"/>
                <a:ea typeface="Calibri"/>
                <a:cs typeface="Calibri"/>
                <a:sym typeface="Calibri"/>
              </a:endParaRPr>
            </a:p>
          </p:txBody>
        </p:sp>
        <p:sp>
          <p:nvSpPr>
            <p:cNvPr id="133" name="Google Shape;133;p15"/>
            <p:cNvSpPr/>
            <p:nvPr/>
          </p:nvSpPr>
          <p:spPr>
            <a:xfrm>
              <a:off x="7646670" y="3651885"/>
              <a:ext cx="1097400" cy="308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FFFFFF"/>
                </a:buClr>
                <a:buSzPts val="700"/>
                <a:buFont typeface="Arial"/>
                <a:buNone/>
              </a:pPr>
              <a:r>
                <a:rPr b="0" i="0" lang="en" sz="700" u="none" cap="none" strike="noStrike">
                  <a:solidFill>
                    <a:srgbClr val="FFFFFF"/>
                  </a:solidFill>
                  <a:latin typeface="Arial"/>
                  <a:ea typeface="Arial"/>
                  <a:cs typeface="Arial"/>
                  <a:sym typeface="Arial"/>
                </a:rPr>
                <a:t>Audit cadence</a:t>
              </a:r>
              <a:endParaRPr b="0" i="0" sz="700" u="none" cap="none" strike="noStrike">
                <a:solidFill>
                  <a:schemeClr val="dk1"/>
                </a:solidFill>
                <a:latin typeface="Calibri"/>
                <a:ea typeface="Calibri"/>
                <a:cs typeface="Calibri"/>
                <a:sym typeface="Calibri"/>
              </a:endParaRPr>
            </a:p>
          </p:txBody>
        </p:sp>
        <p:cxnSp>
          <p:nvCxnSpPr>
            <p:cNvPr id="134" name="Google Shape;134;p15"/>
            <p:cNvCxnSpPr/>
            <p:nvPr/>
          </p:nvCxnSpPr>
          <p:spPr>
            <a:xfrm>
              <a:off x="3703320" y="4029075"/>
              <a:ext cx="5212200" cy="0"/>
            </a:xfrm>
            <a:prstGeom prst="straightConnector1">
              <a:avLst/>
            </a:prstGeom>
            <a:noFill/>
            <a:ln cap="flat" cmpd="sng" w="9525">
              <a:solidFill>
                <a:srgbClr val="DDDDDD"/>
              </a:solidFill>
              <a:prstDash val="solid"/>
              <a:round/>
              <a:headEnd len="sm" w="sm" type="none"/>
              <a:tailEnd len="sm" w="sm" type="none"/>
            </a:ln>
          </p:spPr>
        </p:cxnSp>
        <p:sp>
          <p:nvSpPr>
            <p:cNvPr id="135" name="Google Shape;135;p15"/>
            <p:cNvSpPr/>
            <p:nvPr/>
          </p:nvSpPr>
          <p:spPr>
            <a:xfrm>
              <a:off x="3703320" y="4029075"/>
              <a:ext cx="5212200" cy="687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6" name="Google Shape;136;p15"/>
            <p:cNvSpPr/>
            <p:nvPr/>
          </p:nvSpPr>
          <p:spPr>
            <a:xfrm>
              <a:off x="3874770" y="4111371"/>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1000"/>
                <a:buFont typeface="Arial"/>
                <a:buNone/>
              </a:pPr>
              <a:r>
                <a:rPr b="1" i="0" lang="en" sz="1000" u="none" cap="none" strike="noStrike">
                  <a:solidFill>
                    <a:srgbClr val="1A1A1A"/>
                  </a:solidFill>
                  <a:latin typeface="Arial"/>
                  <a:ea typeface="Arial"/>
                  <a:cs typeface="Arial"/>
                  <a:sym typeface="Arial"/>
                </a:rPr>
                <a:t>Low Coverage of Rego, Policy-as-Code</a:t>
              </a:r>
              <a:endParaRPr b="0" i="0" sz="1000" u="none" cap="none" strike="noStrike">
                <a:solidFill>
                  <a:schemeClr val="dk1"/>
                </a:solidFill>
                <a:latin typeface="Calibri"/>
                <a:ea typeface="Calibri"/>
                <a:cs typeface="Calibri"/>
                <a:sym typeface="Calibri"/>
              </a:endParaRPr>
            </a:p>
          </p:txBody>
        </p:sp>
        <p:sp>
          <p:nvSpPr>
            <p:cNvPr id="137" name="Google Shape;137;p15"/>
            <p:cNvSpPr/>
            <p:nvPr/>
          </p:nvSpPr>
          <p:spPr>
            <a:xfrm>
              <a:off x="3874770" y="4371975"/>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700"/>
                <a:buFont typeface="Arial"/>
                <a:buNone/>
              </a:pPr>
              <a:r>
                <a:rPr b="1" i="0" lang="en" sz="750" u="none" cap="none" strike="noStrike">
                  <a:solidFill>
                    <a:srgbClr val="1A1A1A"/>
                  </a:solidFill>
                  <a:latin typeface="Arial"/>
                  <a:ea typeface="Arial"/>
                  <a:cs typeface="Arial"/>
                  <a:sym typeface="Arial"/>
                </a:rPr>
                <a:t>Root Cause: </a:t>
              </a:r>
              <a:r>
                <a:rPr b="0" i="0" lang="en" sz="750" u="none" cap="none" strike="noStrike">
                  <a:solidFill>
                    <a:srgbClr val="333333"/>
                  </a:solidFill>
                  <a:latin typeface="Arial"/>
                  <a:ea typeface="Arial"/>
                  <a:cs typeface="Arial"/>
                  <a:sym typeface="Arial"/>
                </a:rPr>
                <a:t>Generating Rego policies per control-service pair at enterprise scale is not feasible.</a:t>
              </a:r>
              <a:endParaRPr b="0" i="0" sz="750" u="none" cap="none" strike="noStrike">
                <a:solidFill>
                  <a:schemeClr val="dk1"/>
                </a:solidFill>
                <a:latin typeface="Calibri"/>
                <a:ea typeface="Calibri"/>
                <a:cs typeface="Calibri"/>
                <a:sym typeface="Calibri"/>
              </a:endParaRPr>
            </a:p>
          </p:txBody>
        </p:sp>
        <p:sp>
          <p:nvSpPr>
            <p:cNvPr id="138" name="Google Shape;138;p15"/>
            <p:cNvSpPr/>
            <p:nvPr/>
          </p:nvSpPr>
          <p:spPr>
            <a:xfrm>
              <a:off x="3874770" y="4612005"/>
              <a:ext cx="3566100" cy="240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A1A1A"/>
                </a:buClr>
                <a:buSzPts val="700"/>
                <a:buFont typeface="Arial"/>
                <a:buNone/>
              </a:pPr>
              <a:r>
                <a:rPr b="1" i="0" lang="en" sz="750" u="none" cap="none" strike="noStrike">
                  <a:solidFill>
                    <a:srgbClr val="1A1A1A"/>
                  </a:solidFill>
                  <a:latin typeface="Arial"/>
                  <a:ea typeface="Arial"/>
                  <a:cs typeface="Arial"/>
                  <a:sym typeface="Arial"/>
                </a:rPr>
                <a:t>Impact: </a:t>
              </a:r>
              <a:r>
                <a:rPr b="0" i="0" lang="en" sz="750" u="none" cap="none" strike="noStrike">
                  <a:solidFill>
                    <a:srgbClr val="333333"/>
                  </a:solidFill>
                  <a:latin typeface="Arial"/>
                  <a:ea typeface="Arial"/>
                  <a:cs typeface="Arial"/>
                  <a:sym typeface="Arial"/>
                </a:rPr>
                <a:t>Compliance controls are never enforced as code and exist only as static documents.</a:t>
              </a:r>
              <a:endParaRPr b="0" i="0" sz="750" u="none" cap="none" strike="noStrike">
                <a:solidFill>
                  <a:schemeClr val="dk1"/>
                </a:solidFill>
                <a:latin typeface="Calibri"/>
                <a:ea typeface="Calibri"/>
                <a:cs typeface="Calibri"/>
                <a:sym typeface="Calibri"/>
              </a:endParaRPr>
            </a:p>
          </p:txBody>
        </p:sp>
        <p:sp>
          <p:nvSpPr>
            <p:cNvPr id="139" name="Google Shape;139;p15"/>
            <p:cNvSpPr/>
            <p:nvPr/>
          </p:nvSpPr>
          <p:spPr>
            <a:xfrm>
              <a:off x="7646670" y="4097655"/>
              <a:ext cx="1097400" cy="7716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15"/>
            <p:cNvSpPr/>
            <p:nvPr/>
          </p:nvSpPr>
          <p:spPr>
            <a:xfrm>
              <a:off x="7646670" y="4097655"/>
              <a:ext cx="1097400" cy="462900"/>
            </a:xfrm>
            <a:prstGeom prst="rect">
              <a:avLst/>
            </a:prstGeom>
            <a:noFill/>
            <a:ln>
              <a:noFill/>
            </a:ln>
          </p:spPr>
          <p:txBody>
            <a:bodyPr anchorCtr="0" anchor="b" bIns="34275" lIns="68575" spcFirstLastPara="1" rIns="68575" wrap="square" tIns="34275">
              <a:noAutofit/>
            </a:bodyPr>
            <a:lstStyle/>
            <a:p>
              <a:pPr indent="0" lvl="0" marL="0" marR="0" rtl="0" algn="ctr">
                <a:spcBef>
                  <a:spcPts val="0"/>
                </a:spcBef>
                <a:spcAft>
                  <a:spcPts val="0"/>
                </a:spcAft>
                <a:buClr>
                  <a:srgbClr val="FFFFFF"/>
                </a:buClr>
                <a:buSzPts val="1200"/>
                <a:buFont typeface="Arial"/>
                <a:buNone/>
              </a:pPr>
              <a:r>
                <a:rPr b="1" i="0" lang="en" sz="1200" u="none" cap="none" strike="noStrike">
                  <a:solidFill>
                    <a:srgbClr val="FFFFFF"/>
                  </a:solidFill>
                  <a:latin typeface="Arial"/>
                  <a:ea typeface="Arial"/>
                  <a:cs typeface="Arial"/>
                  <a:sym typeface="Arial"/>
                </a:rPr>
                <a:t>For Most</a:t>
              </a:r>
              <a:endParaRPr b="0" i="0" sz="1200" u="none" cap="none" strike="noStrike">
                <a:solidFill>
                  <a:schemeClr val="dk1"/>
                </a:solidFill>
                <a:latin typeface="Calibri"/>
                <a:ea typeface="Calibri"/>
                <a:cs typeface="Calibri"/>
                <a:sym typeface="Calibri"/>
              </a:endParaRPr>
            </a:p>
          </p:txBody>
        </p:sp>
        <p:sp>
          <p:nvSpPr>
            <p:cNvPr id="141" name="Google Shape;141;p15"/>
            <p:cNvSpPr/>
            <p:nvPr/>
          </p:nvSpPr>
          <p:spPr>
            <a:xfrm>
              <a:off x="7646670" y="4560570"/>
              <a:ext cx="1097400" cy="3087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Clr>
                  <a:srgbClr val="FFFFFF"/>
                </a:buClr>
                <a:buSzPts val="700"/>
                <a:buFont typeface="Arial"/>
                <a:buNone/>
              </a:pPr>
              <a:r>
                <a:rPr b="0" i="0" lang="en" sz="700" u="none" cap="none" strike="noStrike">
                  <a:solidFill>
                    <a:srgbClr val="FFFFFF"/>
                  </a:solidFill>
                  <a:latin typeface="Arial"/>
                  <a:ea typeface="Arial"/>
                  <a:cs typeface="Arial"/>
                  <a:sym typeface="Arial"/>
                </a:rPr>
                <a:t>Enterprises</a:t>
              </a:r>
              <a:endParaRPr b="0" i="0" sz="700" u="none" cap="none" strike="noStrike">
                <a:solidFill>
                  <a:schemeClr val="dk1"/>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nvSpPr>
        <p:spPr>
          <a:xfrm>
            <a:off x="1340700" y="503725"/>
            <a:ext cx="428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47" name="Google Shape;147;p16"/>
          <p:cNvPicPr preferRelativeResize="0"/>
          <p:nvPr/>
        </p:nvPicPr>
        <p:blipFill rotWithShape="1">
          <a:blip r:embed="rId3">
            <a:alphaModFix/>
          </a:blip>
          <a:srcRect b="0" l="70" r="60" t="0"/>
          <a:stretch/>
        </p:blipFill>
        <p:spPr>
          <a:xfrm>
            <a:off x="-35700" y="0"/>
            <a:ext cx="9210675" cy="5151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152" name="Shape 152"/>
        <p:cNvGrpSpPr/>
        <p:nvPr/>
      </p:nvGrpSpPr>
      <p:grpSpPr>
        <a:xfrm>
          <a:off x="0" y="0"/>
          <a:ext cx="0" cy="0"/>
          <a:chOff x="0" y="0"/>
          <a:chExt cx="0" cy="0"/>
        </a:xfrm>
      </p:grpSpPr>
      <p:sp>
        <p:nvSpPr>
          <p:cNvPr id="153" name="Google Shape;153;p17"/>
          <p:cNvSpPr/>
          <p:nvPr/>
        </p:nvSpPr>
        <p:spPr>
          <a:xfrm>
            <a:off x="0" y="0"/>
            <a:ext cx="2286000" cy="91500"/>
          </a:xfrm>
          <a:prstGeom prst="rect">
            <a:avLst/>
          </a:prstGeom>
          <a:solidFill>
            <a:srgbClr val="1A73E8"/>
          </a:solidFill>
          <a:ln cap="flat" cmpd="sng" w="1270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p:nvPr/>
        </p:nvSpPr>
        <p:spPr>
          <a:xfrm>
            <a:off x="2286000" y="0"/>
            <a:ext cx="2286000" cy="915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p:nvPr/>
        </p:nvSpPr>
        <p:spPr>
          <a:xfrm>
            <a:off x="4572000" y="0"/>
            <a:ext cx="2286000" cy="915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p:nvPr/>
        </p:nvSpPr>
        <p:spPr>
          <a:xfrm>
            <a:off x="6858000" y="0"/>
            <a:ext cx="2286000" cy="915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7"/>
          <p:cNvSpPr/>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3400"/>
              <a:buFont typeface="Arial"/>
              <a:buNone/>
            </a:pPr>
            <a:r>
              <a:rPr b="1" i="0" lang="en" sz="3400" u="none" cap="none" strike="noStrike">
                <a:solidFill>
                  <a:srgbClr val="202124"/>
                </a:solidFill>
                <a:latin typeface="Arial"/>
                <a:ea typeface="Arial"/>
                <a:cs typeface="Arial"/>
                <a:sym typeface="Arial"/>
              </a:rPr>
              <a:t>GCP Compliance Automation</a:t>
            </a:r>
            <a:endParaRPr b="0" i="0" sz="3400" u="none" cap="none" strike="noStrike">
              <a:solidFill>
                <a:schemeClr val="dk1"/>
              </a:solidFill>
              <a:latin typeface="Calibri"/>
              <a:ea typeface="Calibri"/>
              <a:cs typeface="Calibri"/>
              <a:sym typeface="Calibri"/>
            </a:endParaRPr>
          </a:p>
        </p:txBody>
      </p:sp>
      <p:sp>
        <p:nvSpPr>
          <p:cNvPr id="158" name="Google Shape;158;p17"/>
          <p:cNvSpPr/>
          <p:nvPr/>
        </p:nvSpPr>
        <p:spPr>
          <a:xfrm>
            <a:off x="457200" y="914400"/>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500"/>
              <a:buFont typeface="Arial"/>
              <a:buNone/>
            </a:pPr>
            <a:r>
              <a:rPr b="0" i="0" lang="en" sz="1500" u="none" cap="none" strike="noStrike">
                <a:solidFill>
                  <a:srgbClr val="5F6368"/>
                </a:solidFill>
                <a:latin typeface="Arial"/>
                <a:ea typeface="Arial"/>
                <a:cs typeface="Arial"/>
                <a:sym typeface="Arial"/>
              </a:rPr>
              <a:t>An AI-Powered Three-Step Solution</a:t>
            </a:r>
            <a:endParaRPr b="0" i="0" sz="1500" u="none" cap="none" strike="noStrike">
              <a:solidFill>
                <a:schemeClr val="dk1"/>
              </a:solidFill>
              <a:latin typeface="Calibri"/>
              <a:ea typeface="Calibri"/>
              <a:cs typeface="Calibri"/>
              <a:sym typeface="Calibri"/>
            </a:endParaRPr>
          </a:p>
        </p:txBody>
      </p:sp>
      <p:sp>
        <p:nvSpPr>
          <p:cNvPr id="159" name="Google Shape;159;p17"/>
          <p:cNvSpPr/>
          <p:nvPr/>
        </p:nvSpPr>
        <p:spPr>
          <a:xfrm>
            <a:off x="457200" y="1298448"/>
            <a:ext cx="8229600" cy="22800"/>
          </a:xfrm>
          <a:prstGeom prst="rect">
            <a:avLst/>
          </a:prstGeom>
          <a:solidFill>
            <a:srgbClr val="E8EAED"/>
          </a:solidFill>
          <a:ln cap="flat" cmpd="sng" w="12700">
            <a:solidFill>
              <a:srgbClr val="E8E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7"/>
          <p:cNvSpPr/>
          <p:nvPr/>
        </p:nvSpPr>
        <p:spPr>
          <a:xfrm>
            <a:off x="411480" y="1463040"/>
            <a:ext cx="2651700" cy="3108900"/>
          </a:xfrm>
          <a:prstGeom prst="rect">
            <a:avLst/>
          </a:prstGeom>
          <a:solidFill>
            <a:srgbClr val="FFFFFF"/>
          </a:solidFill>
          <a:ln cap="flat" cmpd="sng" w="12700">
            <a:solidFill>
              <a:srgbClr val="E8EAED"/>
            </a:solidFill>
            <a:prstDash val="solid"/>
            <a:round/>
            <a:headEnd len="sm" w="sm" type="none"/>
            <a:tailEnd len="sm" w="sm" type="none"/>
          </a:ln>
          <a:effectLst>
            <a:outerShdw blurRad="1016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7"/>
          <p:cNvSpPr/>
          <p:nvPr/>
        </p:nvSpPr>
        <p:spPr>
          <a:xfrm>
            <a:off x="411480" y="1463040"/>
            <a:ext cx="2651700" cy="63900"/>
          </a:xfrm>
          <a:prstGeom prst="rect">
            <a:avLst/>
          </a:prstGeom>
          <a:solidFill>
            <a:srgbClr val="1A73E8"/>
          </a:solidFill>
          <a:ln cap="flat" cmpd="sng" w="1270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7"/>
          <p:cNvSpPr/>
          <p:nvPr/>
        </p:nvSpPr>
        <p:spPr>
          <a:xfrm>
            <a:off x="576072" y="1627632"/>
            <a:ext cx="640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3E8"/>
              </a:buClr>
              <a:buSzPts val="2800"/>
              <a:buFont typeface="Arial"/>
              <a:buNone/>
            </a:pPr>
            <a:r>
              <a:rPr b="1" i="0" lang="en" sz="2800" u="none" cap="none" strike="noStrike">
                <a:solidFill>
                  <a:srgbClr val="1A73E8"/>
                </a:solidFill>
                <a:latin typeface="Arial"/>
                <a:ea typeface="Arial"/>
                <a:cs typeface="Arial"/>
                <a:sym typeface="Arial"/>
              </a:rPr>
              <a:t>01</a:t>
            </a:r>
            <a:endParaRPr b="0" i="0" sz="2800" u="none" cap="none" strike="noStrike">
              <a:solidFill>
                <a:schemeClr val="dk1"/>
              </a:solidFill>
              <a:latin typeface="Calibri"/>
              <a:ea typeface="Calibri"/>
              <a:cs typeface="Calibri"/>
              <a:sym typeface="Calibri"/>
            </a:endParaRPr>
          </a:p>
        </p:txBody>
      </p:sp>
      <p:sp>
        <p:nvSpPr>
          <p:cNvPr id="163" name="Google Shape;163;p17"/>
          <p:cNvSpPr/>
          <p:nvPr/>
        </p:nvSpPr>
        <p:spPr>
          <a:xfrm>
            <a:off x="2313432" y="1664208"/>
            <a:ext cx="658500" cy="255900"/>
          </a:xfrm>
          <a:prstGeom prst="roundRect">
            <a:avLst>
              <a:gd fmla="val 17857" name="adj"/>
            </a:avLst>
          </a:prstGeom>
          <a:solidFill>
            <a:srgbClr val="1A73E8">
              <a:alpha val="14900"/>
            </a:srgbClr>
          </a:solidFill>
          <a:ln cap="flat" cmpd="sng" w="1270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7"/>
          <p:cNvSpPr/>
          <p:nvPr/>
        </p:nvSpPr>
        <p:spPr>
          <a:xfrm>
            <a:off x="2313432" y="1664208"/>
            <a:ext cx="6585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73E8"/>
              </a:buClr>
              <a:buSzPts val="800"/>
              <a:buFont typeface="Calibri"/>
              <a:buNone/>
            </a:pPr>
            <a:r>
              <a:rPr b="1" i="0" lang="en" sz="800" u="none" cap="none" strike="noStrike">
                <a:solidFill>
                  <a:srgbClr val="1A73E8"/>
                </a:solidFill>
                <a:latin typeface="Calibri"/>
                <a:ea typeface="Calibri"/>
                <a:cs typeface="Calibri"/>
                <a:sym typeface="Calibri"/>
              </a:rPr>
              <a:t>NOW</a:t>
            </a:r>
            <a:endParaRPr b="0" i="0" sz="800" u="none" cap="none" strike="noStrike">
              <a:solidFill>
                <a:schemeClr val="dk1"/>
              </a:solidFill>
              <a:latin typeface="Calibri"/>
              <a:ea typeface="Calibri"/>
              <a:cs typeface="Calibri"/>
              <a:sym typeface="Calibri"/>
            </a:endParaRPr>
          </a:p>
        </p:txBody>
      </p:sp>
      <p:sp>
        <p:nvSpPr>
          <p:cNvPr id="165" name="Google Shape;165;p17"/>
          <p:cNvSpPr/>
          <p:nvPr/>
        </p:nvSpPr>
        <p:spPr>
          <a:xfrm>
            <a:off x="576072" y="2212848"/>
            <a:ext cx="2377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1400"/>
              <a:buFont typeface="Arial"/>
              <a:buNone/>
            </a:pPr>
            <a:r>
              <a:rPr b="1" i="0" lang="en" sz="1400" u="none" cap="none" strike="noStrike">
                <a:solidFill>
                  <a:srgbClr val="202124"/>
                </a:solidFill>
                <a:latin typeface="Arial"/>
                <a:ea typeface="Arial"/>
                <a:cs typeface="Arial"/>
                <a:sym typeface="Arial"/>
              </a:rPr>
              <a:t>Control Mapping</a:t>
            </a:r>
            <a:endParaRPr b="0" i="0" sz="1400" u="none" cap="none" strike="noStrike">
              <a:solidFill>
                <a:schemeClr val="dk1"/>
              </a:solidFill>
              <a:latin typeface="Calibri"/>
              <a:ea typeface="Calibri"/>
              <a:cs typeface="Calibri"/>
              <a:sym typeface="Calibri"/>
            </a:endParaRPr>
          </a:p>
        </p:txBody>
      </p:sp>
      <p:sp>
        <p:nvSpPr>
          <p:cNvPr id="166" name="Google Shape;166;p17"/>
          <p:cNvSpPr/>
          <p:nvPr/>
        </p:nvSpPr>
        <p:spPr>
          <a:xfrm>
            <a:off x="576072" y="2578608"/>
            <a:ext cx="2377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3E8"/>
              </a:buClr>
              <a:buSzPts val="1000"/>
              <a:buFont typeface="Arial"/>
              <a:buNone/>
            </a:pPr>
            <a:r>
              <a:rPr b="0" i="1" lang="en" sz="1000" u="none" cap="none" strike="noStrike">
                <a:solidFill>
                  <a:srgbClr val="1A73E8"/>
                </a:solidFill>
                <a:latin typeface="Arial"/>
                <a:ea typeface="Arial"/>
                <a:cs typeface="Arial"/>
                <a:sym typeface="Arial"/>
              </a:rPr>
              <a:t>NIST → GCP Services</a:t>
            </a:r>
            <a:endParaRPr b="0" i="0" sz="1000" u="none" cap="none" strike="noStrike">
              <a:solidFill>
                <a:schemeClr val="dk1"/>
              </a:solidFill>
              <a:latin typeface="Calibri"/>
              <a:ea typeface="Calibri"/>
              <a:cs typeface="Calibri"/>
              <a:sym typeface="Calibri"/>
            </a:endParaRPr>
          </a:p>
        </p:txBody>
      </p:sp>
      <p:sp>
        <p:nvSpPr>
          <p:cNvPr id="167" name="Google Shape;167;p17"/>
          <p:cNvSpPr/>
          <p:nvPr/>
        </p:nvSpPr>
        <p:spPr>
          <a:xfrm>
            <a:off x="576072" y="2880360"/>
            <a:ext cx="2377500" cy="14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1100"/>
              <a:buFont typeface="Arial"/>
              <a:buNone/>
            </a:pPr>
            <a:r>
              <a:rPr b="0" i="0" lang="en" sz="1100" u="none" cap="none" strike="noStrike">
                <a:solidFill>
                  <a:srgbClr val="3C4043"/>
                </a:solidFill>
                <a:latin typeface="Arial"/>
                <a:ea typeface="Arial"/>
                <a:cs typeface="Arial"/>
                <a:sym typeface="Arial"/>
              </a:rPr>
              <a:t>RAG-powered agent maps every NIST control to relevant GCP services, replacing manual rule-writing with intelligent LLM reasoning.</a:t>
            </a:r>
            <a:endParaRPr b="0" i="0" sz="1100" u="none" cap="none" strike="noStrike">
              <a:solidFill>
                <a:schemeClr val="dk1"/>
              </a:solidFill>
              <a:latin typeface="Calibri"/>
              <a:ea typeface="Calibri"/>
              <a:cs typeface="Calibri"/>
              <a:sym typeface="Calibri"/>
            </a:endParaRPr>
          </a:p>
        </p:txBody>
      </p:sp>
      <p:sp>
        <p:nvSpPr>
          <p:cNvPr id="168" name="Google Shape;168;p17"/>
          <p:cNvSpPr/>
          <p:nvPr/>
        </p:nvSpPr>
        <p:spPr>
          <a:xfrm>
            <a:off x="3223260" y="1463040"/>
            <a:ext cx="2651700" cy="3108900"/>
          </a:xfrm>
          <a:prstGeom prst="rect">
            <a:avLst/>
          </a:prstGeom>
          <a:solidFill>
            <a:srgbClr val="FFFFFF"/>
          </a:solidFill>
          <a:ln cap="flat" cmpd="sng" w="12700">
            <a:solidFill>
              <a:srgbClr val="E8EAED"/>
            </a:solidFill>
            <a:prstDash val="solid"/>
            <a:round/>
            <a:headEnd len="sm" w="sm" type="none"/>
            <a:tailEnd len="sm" w="sm" type="none"/>
          </a:ln>
          <a:effectLst>
            <a:outerShdw blurRad="1016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7"/>
          <p:cNvSpPr/>
          <p:nvPr/>
        </p:nvSpPr>
        <p:spPr>
          <a:xfrm>
            <a:off x="3223260" y="1463040"/>
            <a:ext cx="2651700" cy="639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7"/>
          <p:cNvSpPr/>
          <p:nvPr/>
        </p:nvSpPr>
        <p:spPr>
          <a:xfrm>
            <a:off x="3387852" y="1627632"/>
            <a:ext cx="640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A853"/>
              </a:buClr>
              <a:buSzPts val="2800"/>
              <a:buFont typeface="Arial"/>
              <a:buNone/>
            </a:pPr>
            <a:r>
              <a:rPr b="1" i="0" lang="en" sz="2800" u="none" cap="none" strike="noStrike">
                <a:solidFill>
                  <a:srgbClr val="34A853"/>
                </a:solidFill>
                <a:latin typeface="Arial"/>
                <a:ea typeface="Arial"/>
                <a:cs typeface="Arial"/>
                <a:sym typeface="Arial"/>
              </a:rPr>
              <a:t>02</a:t>
            </a:r>
            <a:endParaRPr b="0" i="0" sz="2800" u="none" cap="none" strike="noStrike">
              <a:solidFill>
                <a:schemeClr val="dk1"/>
              </a:solidFill>
              <a:latin typeface="Calibri"/>
              <a:ea typeface="Calibri"/>
              <a:cs typeface="Calibri"/>
              <a:sym typeface="Calibri"/>
            </a:endParaRPr>
          </a:p>
        </p:txBody>
      </p:sp>
      <p:sp>
        <p:nvSpPr>
          <p:cNvPr id="171" name="Google Shape;171;p17"/>
          <p:cNvSpPr/>
          <p:nvPr/>
        </p:nvSpPr>
        <p:spPr>
          <a:xfrm>
            <a:off x="5125212" y="1664208"/>
            <a:ext cx="658500" cy="255900"/>
          </a:xfrm>
          <a:prstGeom prst="roundRect">
            <a:avLst>
              <a:gd fmla="val 17857" name="adj"/>
            </a:avLst>
          </a:prstGeom>
          <a:solidFill>
            <a:srgbClr val="34A853">
              <a:alpha val="14900"/>
            </a:srgbClr>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7"/>
          <p:cNvSpPr/>
          <p:nvPr/>
        </p:nvSpPr>
        <p:spPr>
          <a:xfrm>
            <a:off x="5125212" y="1664208"/>
            <a:ext cx="6585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4A853"/>
              </a:buClr>
              <a:buSzPts val="800"/>
              <a:buFont typeface="Calibri"/>
              <a:buNone/>
            </a:pPr>
            <a:r>
              <a:rPr b="1" i="0" lang="en" sz="800" u="none" cap="none" strike="noStrike">
                <a:solidFill>
                  <a:srgbClr val="34A853"/>
                </a:solidFill>
                <a:latin typeface="Calibri"/>
                <a:ea typeface="Calibri"/>
                <a:cs typeface="Calibri"/>
                <a:sym typeface="Calibri"/>
              </a:rPr>
              <a:t>NOW</a:t>
            </a:r>
            <a:endParaRPr b="0" i="0" sz="800" u="none" cap="none" strike="noStrike">
              <a:solidFill>
                <a:schemeClr val="dk1"/>
              </a:solidFill>
              <a:latin typeface="Calibri"/>
              <a:ea typeface="Calibri"/>
              <a:cs typeface="Calibri"/>
              <a:sym typeface="Calibri"/>
            </a:endParaRPr>
          </a:p>
        </p:txBody>
      </p:sp>
      <p:sp>
        <p:nvSpPr>
          <p:cNvPr id="173" name="Google Shape;173;p17"/>
          <p:cNvSpPr/>
          <p:nvPr/>
        </p:nvSpPr>
        <p:spPr>
          <a:xfrm>
            <a:off x="3387852" y="2212848"/>
            <a:ext cx="2377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1400"/>
              <a:buFont typeface="Arial"/>
              <a:buNone/>
            </a:pPr>
            <a:r>
              <a:rPr b="1" i="0" lang="en" sz="1400" u="none" cap="none" strike="noStrike">
                <a:solidFill>
                  <a:srgbClr val="202124"/>
                </a:solidFill>
                <a:latin typeface="Arial"/>
                <a:ea typeface="Arial"/>
                <a:cs typeface="Arial"/>
                <a:sym typeface="Arial"/>
              </a:rPr>
              <a:t>Monitoring &amp; Evidence</a:t>
            </a:r>
            <a:endParaRPr b="0" i="0" sz="1400" u="none" cap="none" strike="noStrike">
              <a:solidFill>
                <a:schemeClr val="dk1"/>
              </a:solidFill>
              <a:latin typeface="Calibri"/>
              <a:ea typeface="Calibri"/>
              <a:cs typeface="Calibri"/>
              <a:sym typeface="Calibri"/>
            </a:endParaRPr>
          </a:p>
        </p:txBody>
      </p:sp>
      <p:sp>
        <p:nvSpPr>
          <p:cNvPr id="174" name="Google Shape;174;p17"/>
          <p:cNvSpPr/>
          <p:nvPr/>
        </p:nvSpPr>
        <p:spPr>
          <a:xfrm>
            <a:off x="3387852" y="2578608"/>
            <a:ext cx="2377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A853"/>
              </a:buClr>
              <a:buSzPts val="1000"/>
              <a:buFont typeface="Arial"/>
              <a:buNone/>
            </a:pPr>
            <a:r>
              <a:rPr b="0" i="1" lang="en" sz="1000" u="none" cap="none" strike="noStrike">
                <a:solidFill>
                  <a:srgbClr val="34A853"/>
                </a:solidFill>
                <a:latin typeface="Arial"/>
                <a:ea typeface="Arial"/>
                <a:cs typeface="Arial"/>
                <a:sym typeface="Arial"/>
              </a:rPr>
              <a:t>Automated </a:t>
            </a:r>
            <a:r>
              <a:rPr i="1" lang="en" sz="1000">
                <a:solidFill>
                  <a:srgbClr val="34A853"/>
                </a:solidFill>
              </a:rPr>
              <a:t>Audit Flow</a:t>
            </a:r>
            <a:endParaRPr b="0" i="0" sz="1000" u="none" cap="none" strike="noStrike">
              <a:solidFill>
                <a:schemeClr val="dk1"/>
              </a:solidFill>
              <a:latin typeface="Calibri"/>
              <a:ea typeface="Calibri"/>
              <a:cs typeface="Calibri"/>
              <a:sym typeface="Calibri"/>
            </a:endParaRPr>
          </a:p>
        </p:txBody>
      </p:sp>
      <p:sp>
        <p:nvSpPr>
          <p:cNvPr id="175" name="Google Shape;175;p17"/>
          <p:cNvSpPr/>
          <p:nvPr/>
        </p:nvSpPr>
        <p:spPr>
          <a:xfrm>
            <a:off x="3387852" y="2880360"/>
            <a:ext cx="2377500" cy="14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1100"/>
              <a:buFont typeface="Arial"/>
              <a:buNone/>
            </a:pPr>
            <a:r>
              <a:rPr b="0" i="0" lang="en" sz="1100" u="none" cap="none" strike="noStrike">
                <a:solidFill>
                  <a:srgbClr val="3C4043"/>
                </a:solidFill>
                <a:latin typeface="Arial"/>
                <a:ea typeface="Arial"/>
                <a:cs typeface="Arial"/>
                <a:sym typeface="Arial"/>
              </a:rPr>
              <a:t>Agent defines, executes and stores test cases per control </a:t>
            </a:r>
            <a:r>
              <a:rPr lang="en" sz="1100">
                <a:solidFill>
                  <a:srgbClr val="3C4043"/>
                </a:solidFill>
              </a:rPr>
              <a:t>-</a:t>
            </a:r>
            <a:r>
              <a:rPr b="0" i="0" lang="en" sz="1100" u="none" cap="none" strike="noStrike">
                <a:solidFill>
                  <a:srgbClr val="3C4043"/>
                </a:solidFill>
                <a:latin typeface="Arial"/>
                <a:ea typeface="Arial"/>
                <a:cs typeface="Arial"/>
                <a:sym typeface="Arial"/>
              </a:rPr>
              <a:t> collecting audit evidence on pass and triggering alerts on failure.</a:t>
            </a:r>
            <a:endParaRPr b="0" i="0" sz="1100" u="none" cap="none" strike="noStrike">
              <a:solidFill>
                <a:schemeClr val="dk1"/>
              </a:solidFill>
              <a:latin typeface="Calibri"/>
              <a:ea typeface="Calibri"/>
              <a:cs typeface="Calibri"/>
              <a:sym typeface="Calibri"/>
            </a:endParaRPr>
          </a:p>
        </p:txBody>
      </p:sp>
      <p:sp>
        <p:nvSpPr>
          <p:cNvPr id="176" name="Google Shape;176;p17"/>
          <p:cNvSpPr/>
          <p:nvPr/>
        </p:nvSpPr>
        <p:spPr>
          <a:xfrm>
            <a:off x="6035040" y="1463040"/>
            <a:ext cx="2651700" cy="3108900"/>
          </a:xfrm>
          <a:prstGeom prst="rect">
            <a:avLst/>
          </a:prstGeom>
          <a:solidFill>
            <a:srgbClr val="FFFFFF"/>
          </a:solidFill>
          <a:ln cap="flat" cmpd="sng" w="12700">
            <a:solidFill>
              <a:srgbClr val="E8EAED"/>
            </a:solidFill>
            <a:prstDash val="solid"/>
            <a:round/>
            <a:headEnd len="sm" w="sm" type="none"/>
            <a:tailEnd len="sm" w="sm" type="none"/>
          </a:ln>
          <a:effectLst>
            <a:outerShdw blurRad="1016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7"/>
          <p:cNvSpPr/>
          <p:nvPr/>
        </p:nvSpPr>
        <p:spPr>
          <a:xfrm>
            <a:off x="6035040" y="1463040"/>
            <a:ext cx="2651700" cy="639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7"/>
          <p:cNvSpPr/>
          <p:nvPr/>
        </p:nvSpPr>
        <p:spPr>
          <a:xfrm>
            <a:off x="6199632" y="1627632"/>
            <a:ext cx="640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C04"/>
              </a:buClr>
              <a:buSzPts val="2800"/>
              <a:buFont typeface="Arial"/>
              <a:buNone/>
            </a:pPr>
            <a:r>
              <a:rPr b="1" i="0" lang="en" sz="2800" u="none" cap="none" strike="noStrike">
                <a:solidFill>
                  <a:srgbClr val="FBBC04"/>
                </a:solidFill>
                <a:latin typeface="Arial"/>
                <a:ea typeface="Arial"/>
                <a:cs typeface="Arial"/>
                <a:sym typeface="Arial"/>
              </a:rPr>
              <a:t>03</a:t>
            </a:r>
            <a:endParaRPr b="0" i="0" sz="2800" u="none" cap="none" strike="noStrike">
              <a:solidFill>
                <a:schemeClr val="dk1"/>
              </a:solidFill>
              <a:latin typeface="Calibri"/>
              <a:ea typeface="Calibri"/>
              <a:cs typeface="Calibri"/>
              <a:sym typeface="Calibri"/>
            </a:endParaRPr>
          </a:p>
        </p:txBody>
      </p:sp>
      <p:sp>
        <p:nvSpPr>
          <p:cNvPr id="179" name="Google Shape;179;p17"/>
          <p:cNvSpPr/>
          <p:nvPr/>
        </p:nvSpPr>
        <p:spPr>
          <a:xfrm>
            <a:off x="7936992" y="1664208"/>
            <a:ext cx="658500" cy="255900"/>
          </a:xfrm>
          <a:prstGeom prst="roundRect">
            <a:avLst>
              <a:gd fmla="val 17857" name="adj"/>
            </a:avLst>
          </a:prstGeom>
          <a:solidFill>
            <a:srgbClr val="FBBC04">
              <a:alpha val="14900"/>
            </a:srgbClr>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7"/>
          <p:cNvSpPr/>
          <p:nvPr/>
        </p:nvSpPr>
        <p:spPr>
          <a:xfrm>
            <a:off x="7936992" y="1664208"/>
            <a:ext cx="658500" cy="255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368"/>
              </a:buClr>
              <a:buSzPts val="800"/>
              <a:buFont typeface="Calibri"/>
              <a:buNone/>
            </a:pPr>
            <a:r>
              <a:rPr b="1" i="0" lang="en" sz="800" u="none" cap="none" strike="noStrike">
                <a:solidFill>
                  <a:srgbClr val="5F6368"/>
                </a:solidFill>
                <a:latin typeface="Calibri"/>
                <a:ea typeface="Calibri"/>
                <a:cs typeface="Calibri"/>
                <a:sym typeface="Calibri"/>
              </a:rPr>
              <a:t>FUTURE</a:t>
            </a:r>
            <a:endParaRPr b="0" i="0" sz="800" u="none" cap="none" strike="noStrike">
              <a:solidFill>
                <a:schemeClr val="dk1"/>
              </a:solidFill>
              <a:latin typeface="Calibri"/>
              <a:ea typeface="Calibri"/>
              <a:cs typeface="Calibri"/>
              <a:sym typeface="Calibri"/>
            </a:endParaRPr>
          </a:p>
        </p:txBody>
      </p:sp>
      <p:sp>
        <p:nvSpPr>
          <p:cNvPr id="181" name="Google Shape;181;p17"/>
          <p:cNvSpPr/>
          <p:nvPr/>
        </p:nvSpPr>
        <p:spPr>
          <a:xfrm>
            <a:off x="6199632" y="2212848"/>
            <a:ext cx="2377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1400"/>
              <a:buFont typeface="Arial"/>
              <a:buNone/>
            </a:pPr>
            <a:r>
              <a:rPr b="1" i="0" lang="en" sz="1400" u="none" cap="none" strike="noStrike">
                <a:solidFill>
                  <a:srgbClr val="202124"/>
                </a:solidFill>
                <a:latin typeface="Arial"/>
                <a:ea typeface="Arial"/>
                <a:cs typeface="Arial"/>
                <a:sym typeface="Arial"/>
              </a:rPr>
              <a:t>Rego Automation</a:t>
            </a:r>
            <a:endParaRPr b="0" i="0" sz="1400" u="none" cap="none" strike="noStrike">
              <a:solidFill>
                <a:schemeClr val="dk1"/>
              </a:solidFill>
              <a:latin typeface="Calibri"/>
              <a:ea typeface="Calibri"/>
              <a:cs typeface="Calibri"/>
              <a:sym typeface="Calibri"/>
            </a:endParaRPr>
          </a:p>
        </p:txBody>
      </p:sp>
      <p:sp>
        <p:nvSpPr>
          <p:cNvPr id="182" name="Google Shape;182;p17"/>
          <p:cNvSpPr/>
          <p:nvPr/>
        </p:nvSpPr>
        <p:spPr>
          <a:xfrm>
            <a:off x="6199632" y="2578608"/>
            <a:ext cx="2377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BBC04"/>
              </a:buClr>
              <a:buSzPts val="1000"/>
              <a:buFont typeface="Arial"/>
              <a:buNone/>
            </a:pPr>
            <a:r>
              <a:rPr b="0" i="1" lang="en" sz="1000" u="none" cap="none" strike="noStrike">
                <a:solidFill>
                  <a:srgbClr val="FBBC04"/>
                </a:solidFill>
                <a:latin typeface="Arial"/>
                <a:ea typeface="Arial"/>
                <a:cs typeface="Arial"/>
                <a:sym typeface="Arial"/>
              </a:rPr>
              <a:t>Policy-as-Code Generation</a:t>
            </a:r>
            <a:endParaRPr b="0" i="0" sz="1000" u="none" cap="none" strike="noStrike">
              <a:solidFill>
                <a:schemeClr val="dk1"/>
              </a:solidFill>
              <a:latin typeface="Calibri"/>
              <a:ea typeface="Calibri"/>
              <a:cs typeface="Calibri"/>
              <a:sym typeface="Calibri"/>
            </a:endParaRPr>
          </a:p>
        </p:txBody>
      </p:sp>
      <p:sp>
        <p:nvSpPr>
          <p:cNvPr id="183" name="Google Shape;183;p17"/>
          <p:cNvSpPr/>
          <p:nvPr/>
        </p:nvSpPr>
        <p:spPr>
          <a:xfrm>
            <a:off x="6199632" y="2880360"/>
            <a:ext cx="2377500" cy="14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1100"/>
              <a:buFont typeface="Arial"/>
              <a:buNone/>
            </a:pPr>
            <a:r>
              <a:rPr b="0" i="0" lang="en" sz="1100" u="none" cap="none" strike="noStrike">
                <a:solidFill>
                  <a:srgbClr val="3C4043"/>
                </a:solidFill>
                <a:latin typeface="Arial"/>
                <a:ea typeface="Arial"/>
                <a:cs typeface="Arial"/>
                <a:sym typeface="Arial"/>
              </a:rPr>
              <a:t>Auto-generate OPA/Rego policies from mapped controls for continuous, enforcement-as-code across all GCP resources.</a:t>
            </a:r>
            <a:endParaRPr b="0" i="0" sz="1100" u="none" cap="none" strike="noStrike">
              <a:solidFill>
                <a:schemeClr val="dk1"/>
              </a:solidFill>
              <a:latin typeface="Calibri"/>
              <a:ea typeface="Calibri"/>
              <a:cs typeface="Calibri"/>
              <a:sym typeface="Calibri"/>
            </a:endParaRPr>
          </a:p>
        </p:txBody>
      </p:sp>
      <p:sp>
        <p:nvSpPr>
          <p:cNvPr id="184" name="Google Shape;184;p17"/>
          <p:cNvSpPr/>
          <p:nvPr/>
        </p:nvSpPr>
        <p:spPr>
          <a:xfrm>
            <a:off x="457200" y="4800600"/>
            <a:ext cx="8229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0A6"/>
              </a:buClr>
              <a:buSzPts val="1000"/>
              <a:buFont typeface="Calibri"/>
              <a:buNone/>
            </a:pPr>
            <a:r>
              <a:rPr b="0" i="1" lang="en" sz="1000" u="none" cap="none" strike="noStrike">
                <a:solidFill>
                  <a:srgbClr val="9AA0A6"/>
                </a:solidFill>
                <a:latin typeface="Calibri"/>
                <a:ea typeface="Calibri"/>
                <a:cs typeface="Calibri"/>
                <a:sym typeface="Calibri"/>
              </a:rPr>
              <a:t>Powered by LLMs + RAG  ·  Reduces manual effort  ·  Continuous compliance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8"/>
          <p:cNvSpPr/>
          <p:nvPr/>
        </p:nvSpPr>
        <p:spPr>
          <a:xfrm>
            <a:off x="0" y="0"/>
            <a:ext cx="2286000" cy="91500"/>
          </a:xfrm>
          <a:prstGeom prst="rect">
            <a:avLst/>
          </a:prstGeom>
          <a:solidFill>
            <a:srgbClr val="1A73E8"/>
          </a:solidFill>
          <a:ln cap="flat" cmpd="sng" w="1270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8"/>
          <p:cNvSpPr/>
          <p:nvPr/>
        </p:nvSpPr>
        <p:spPr>
          <a:xfrm>
            <a:off x="2286000" y="0"/>
            <a:ext cx="2286000" cy="915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8"/>
          <p:cNvSpPr/>
          <p:nvPr/>
        </p:nvSpPr>
        <p:spPr>
          <a:xfrm>
            <a:off x="4572000" y="0"/>
            <a:ext cx="2286000" cy="915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8"/>
          <p:cNvSpPr/>
          <p:nvPr/>
        </p:nvSpPr>
        <p:spPr>
          <a:xfrm>
            <a:off x="6858000" y="0"/>
            <a:ext cx="2286000" cy="915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
          <p:cNvSpPr/>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3400"/>
              <a:buFont typeface="Arial"/>
              <a:buNone/>
            </a:pPr>
            <a:r>
              <a:rPr b="1" lang="en" sz="3400">
                <a:solidFill>
                  <a:srgbClr val="202124"/>
                </a:solidFill>
              </a:rPr>
              <a:t>Frontend Experience for Auditors</a:t>
            </a:r>
            <a:endParaRPr b="0" i="0" sz="3400" u="none" cap="none" strike="noStrike">
              <a:solidFill>
                <a:schemeClr val="dk1"/>
              </a:solidFill>
              <a:latin typeface="Calibri"/>
              <a:ea typeface="Calibri"/>
              <a:cs typeface="Calibri"/>
              <a:sym typeface="Calibri"/>
            </a:endParaRPr>
          </a:p>
        </p:txBody>
      </p:sp>
      <p:sp>
        <p:nvSpPr>
          <p:cNvPr id="194" name="Google Shape;194;p18"/>
          <p:cNvSpPr txBox="1"/>
          <p:nvPr/>
        </p:nvSpPr>
        <p:spPr>
          <a:xfrm>
            <a:off x="1118366" y="4708495"/>
            <a:ext cx="6946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u="sng">
                <a:solidFill>
                  <a:schemeClr val="hlink"/>
                </a:solidFill>
                <a:hlinkClick r:id="rId3"/>
              </a:rPr>
              <a:t>https://claude.ai/design/p/019de1aa-0735-7f35-928c-4e3b5d3af7d5?file=Attest+Compliance+Prototype.html&amp;via=share</a:t>
            </a:r>
            <a:endParaRPr sz="1000"/>
          </a:p>
        </p:txBody>
      </p:sp>
      <p:pic>
        <p:nvPicPr>
          <p:cNvPr id="195" name="Google Shape;195;p18" title="Screenshot 2026-05-01 at 2.06.47 AM.png"/>
          <p:cNvPicPr preferRelativeResize="0"/>
          <p:nvPr/>
        </p:nvPicPr>
        <p:blipFill>
          <a:blip r:embed="rId4">
            <a:alphaModFix/>
          </a:blip>
          <a:stretch>
            <a:fillRect/>
          </a:stretch>
        </p:blipFill>
        <p:spPr>
          <a:xfrm>
            <a:off x="1331425" y="1198689"/>
            <a:ext cx="6481162" cy="350957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9"/>
          <p:cNvSpPr/>
          <p:nvPr/>
        </p:nvSpPr>
        <p:spPr>
          <a:xfrm>
            <a:off x="0" y="0"/>
            <a:ext cx="2286000" cy="91500"/>
          </a:xfrm>
          <a:prstGeom prst="rect">
            <a:avLst/>
          </a:prstGeom>
          <a:solidFill>
            <a:srgbClr val="1A73E8"/>
          </a:solidFill>
          <a:ln cap="flat" cmpd="sng" w="1270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
          <p:cNvSpPr/>
          <p:nvPr/>
        </p:nvSpPr>
        <p:spPr>
          <a:xfrm>
            <a:off x="2286000" y="0"/>
            <a:ext cx="2286000" cy="915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9"/>
          <p:cNvSpPr/>
          <p:nvPr/>
        </p:nvSpPr>
        <p:spPr>
          <a:xfrm>
            <a:off x="4572000" y="0"/>
            <a:ext cx="2286000" cy="915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9"/>
          <p:cNvSpPr/>
          <p:nvPr/>
        </p:nvSpPr>
        <p:spPr>
          <a:xfrm>
            <a:off x="6858000" y="0"/>
            <a:ext cx="2286000" cy="915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9"/>
          <p:cNvSpPr/>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3400"/>
              <a:buFont typeface="Arial"/>
              <a:buNone/>
            </a:pPr>
            <a:r>
              <a:rPr b="1" lang="en" sz="3400">
                <a:solidFill>
                  <a:srgbClr val="202124"/>
                </a:solidFill>
              </a:rPr>
              <a:t>Backend Agent Workflow</a:t>
            </a:r>
            <a:endParaRPr b="0" i="0" sz="3400" u="none" cap="none" strike="noStrike">
              <a:solidFill>
                <a:schemeClr val="dk1"/>
              </a:solidFill>
              <a:latin typeface="Calibri"/>
              <a:ea typeface="Calibri"/>
              <a:cs typeface="Calibri"/>
              <a:sym typeface="Calibri"/>
            </a:endParaRPr>
          </a:p>
        </p:txBody>
      </p:sp>
      <p:sp>
        <p:nvSpPr>
          <p:cNvPr id="205" name="Google Shape;205;p19"/>
          <p:cNvSpPr txBox="1"/>
          <p:nvPr/>
        </p:nvSpPr>
        <p:spPr>
          <a:xfrm>
            <a:off x="518975" y="1130650"/>
            <a:ext cx="8167800" cy="384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Calibri"/>
                <a:ea typeface="Calibri"/>
                <a:cs typeface="Calibri"/>
                <a:sym typeface="Calibri"/>
              </a:rPr>
              <a:t>Architecture</a:t>
            </a:r>
            <a:r>
              <a:rPr lang="en" sz="1600">
                <a:solidFill>
                  <a:schemeClr val="dk1"/>
                </a:solidFill>
                <a:latin typeface="Calibri"/>
                <a:ea typeface="Calibri"/>
                <a:cs typeface="Calibri"/>
                <a:sym typeface="Calibri"/>
              </a:rPr>
              <a:t> - </a:t>
            </a:r>
            <a:r>
              <a:rPr lang="en" sz="1600" u="sng">
                <a:solidFill>
                  <a:schemeClr val="hlink"/>
                </a:solidFill>
                <a:latin typeface="Calibri"/>
                <a:ea typeface="Calibri"/>
                <a:cs typeface="Calibri"/>
                <a:sym typeface="Calibri"/>
                <a:hlinkClick r:id="rId3"/>
              </a:rPr>
              <a:t>Mutli-Agent System</a:t>
            </a:r>
            <a:br>
              <a:rPr lang="en" sz="1600">
                <a:solidFill>
                  <a:schemeClr val="dk1"/>
                </a:solidFill>
                <a:latin typeface="Calibri"/>
                <a:ea typeface="Calibri"/>
                <a:cs typeface="Calibri"/>
                <a:sym typeface="Calibri"/>
              </a:rPr>
            </a:br>
            <a:r>
              <a:rPr b="1" lang="en" sz="1600">
                <a:solidFill>
                  <a:schemeClr val="dk1"/>
                </a:solidFill>
                <a:latin typeface="Calibri"/>
                <a:ea typeface="Calibri"/>
                <a:cs typeface="Calibri"/>
                <a:sym typeface="Calibri"/>
              </a:rPr>
              <a:t>Demo Link</a:t>
            </a:r>
            <a:r>
              <a:rPr lang="en" sz="1600">
                <a:solidFill>
                  <a:schemeClr val="dk1"/>
                </a:solidFill>
                <a:latin typeface="Calibri"/>
                <a:ea typeface="Calibri"/>
                <a:cs typeface="Calibri"/>
                <a:sym typeface="Calibri"/>
              </a:rPr>
              <a:t> - </a:t>
            </a:r>
            <a:r>
              <a:rPr lang="en" sz="1600" u="sng">
                <a:solidFill>
                  <a:schemeClr val="hlink"/>
                </a:solidFill>
                <a:latin typeface="Calibri"/>
                <a:ea typeface="Calibri"/>
                <a:cs typeface="Calibri"/>
                <a:sym typeface="Calibri"/>
                <a:hlinkClick r:id="rId4"/>
              </a:rPr>
              <a:t>Backend</a:t>
            </a:r>
            <a:br>
              <a:rPr lang="en" sz="1600">
                <a:solidFill>
                  <a:schemeClr val="dk2"/>
                </a:solidFill>
                <a:latin typeface="Calibri"/>
                <a:ea typeface="Calibri"/>
                <a:cs typeface="Calibri"/>
                <a:sym typeface="Calibri"/>
              </a:rPr>
            </a:br>
            <a:br>
              <a:rPr lang="en" sz="1600">
                <a:solidFill>
                  <a:schemeClr val="dk2"/>
                </a:solidFill>
                <a:latin typeface="Calibri"/>
                <a:ea typeface="Calibri"/>
                <a:cs typeface="Calibri"/>
                <a:sym typeface="Calibri"/>
              </a:rPr>
            </a:br>
            <a:r>
              <a:rPr lang="en" sz="1600">
                <a:solidFill>
                  <a:schemeClr val="dk1"/>
                </a:solidFill>
                <a:latin typeface="Calibri"/>
                <a:ea typeface="Calibri"/>
                <a:cs typeface="Calibri"/>
                <a:sym typeface="Calibri"/>
              </a:rPr>
              <a:t>Example Input - </a:t>
            </a:r>
            <a:endParaRPr sz="1600">
              <a:solidFill>
                <a:schemeClr val="dk1"/>
              </a:solidFill>
              <a:latin typeface="Calibri"/>
              <a:ea typeface="Calibri"/>
              <a:cs typeface="Calibri"/>
              <a:sym typeface="Calibri"/>
            </a:endParaRPr>
          </a:p>
          <a:p>
            <a:pPr indent="0" lvl="0" marL="0" rtl="0" algn="l">
              <a:spcBef>
                <a:spcPts val="0"/>
              </a:spcBef>
              <a:spcAft>
                <a:spcPts val="0"/>
              </a:spcAft>
              <a:buNone/>
            </a:pPr>
            <a:r>
              <a:rPr lang="en" sz="1600">
                <a:solidFill>
                  <a:schemeClr val="dk1"/>
                </a:solidFill>
                <a:latin typeface="Calibri"/>
                <a:ea typeface="Calibri"/>
                <a:cs typeface="Calibri"/>
                <a:sym typeface="Calibri"/>
              </a:rPr>
              <a:t>Audit Logging and Monitoring</a:t>
            </a:r>
            <a:br>
              <a:rPr lang="en" sz="1600">
                <a:solidFill>
                  <a:schemeClr val="dk1"/>
                </a:solidFill>
                <a:latin typeface="Calibri"/>
                <a:ea typeface="Calibri"/>
                <a:cs typeface="Calibri"/>
                <a:sym typeface="Calibri"/>
              </a:rPr>
            </a:br>
            <a:br>
              <a:rPr lang="en" sz="1600">
                <a:solidFill>
                  <a:schemeClr val="dk1"/>
                </a:solidFill>
                <a:latin typeface="Calibri"/>
                <a:ea typeface="Calibri"/>
                <a:cs typeface="Calibri"/>
                <a:sym typeface="Calibri"/>
              </a:rPr>
            </a:br>
            <a:r>
              <a:rPr lang="en" sz="1600">
                <a:solidFill>
                  <a:schemeClr val="dk1"/>
                </a:solidFill>
                <a:latin typeface="Calibri"/>
                <a:ea typeface="Calibri"/>
                <a:cs typeface="Calibri"/>
                <a:sym typeface="Calibri"/>
              </a:rPr>
              <a:t>NIST SP 800-53</a:t>
            </a:r>
            <a:endParaRPr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audit logging</a:t>
            </a:r>
            <a:endParaRPr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sz="1600">
                <a:solidFill>
                  <a:schemeClr val="dk1"/>
                </a:solidFill>
                <a:latin typeface="Calibri"/>
                <a:ea typeface="Calibri"/>
                <a:cs typeface="Calibri"/>
                <a:sym typeface="Calibri"/>
              </a:rPr>
              <a:t>The system must generate, retain, and review audit logs for privileged administrator activity, including changes to access permissions and security-relevant configuration settings.</a:t>
            </a:r>
            <a:br>
              <a:rPr lang="en" sz="1600">
                <a:solidFill>
                  <a:schemeClr val="dk1"/>
                </a:solidFill>
                <a:latin typeface="Calibri"/>
                <a:ea typeface="Calibri"/>
                <a:cs typeface="Calibri"/>
                <a:sym typeface="Calibri"/>
              </a:rPr>
            </a:br>
            <a:endParaRPr sz="16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a:solidFill>
                  <a:schemeClr val="dk1"/>
                </a:solidFill>
                <a:latin typeface="Calibri"/>
                <a:ea typeface="Calibri"/>
                <a:cs typeface="Calibri"/>
                <a:sym typeface="Calibri"/>
              </a:rPr>
              <a:t>Sources:</a:t>
            </a:r>
            <a:br>
              <a:rPr lang="en">
                <a:solidFill>
                  <a:schemeClr val="dk1"/>
                </a:solidFill>
                <a:latin typeface="Calibri"/>
                <a:ea typeface="Calibri"/>
                <a:cs typeface="Calibri"/>
                <a:sym typeface="Calibri"/>
              </a:rPr>
            </a:br>
            <a:r>
              <a:rPr lang="en">
                <a:solidFill>
                  <a:schemeClr val="dk2"/>
                </a:solidFill>
                <a:latin typeface="Calibri"/>
                <a:ea typeface="Calibri"/>
                <a:cs typeface="Calibri"/>
                <a:sym typeface="Calibri"/>
              </a:rPr>
              <a:t> </a:t>
            </a:r>
            <a:r>
              <a:rPr lang="en" u="sng">
                <a:solidFill>
                  <a:srgbClr val="1155CC"/>
                </a:solidFill>
                <a:highlight>
                  <a:srgbClr val="FFFFFF"/>
                </a:highlight>
                <a:latin typeface="Calibri"/>
                <a:ea typeface="Calibri"/>
                <a:cs typeface="Calibri"/>
                <a:sym typeface="Calibri"/>
                <a:hlinkClick r:id="rId5">
                  <a:extLst>
                    <a:ext uri="{A12FA001-AC4F-418D-AE19-62706E023703}">
                      <ahyp:hlinkClr val="tx"/>
                    </a:ext>
                  </a:extLst>
                </a:hlinkClick>
              </a:rPr>
              <a:t>https://developers.google.com/knowledge/mcp</a:t>
            </a:r>
            <a:br>
              <a:rPr lang="en">
                <a:solidFill>
                  <a:schemeClr val="dk2"/>
                </a:solidFill>
                <a:latin typeface="Calibri"/>
                <a:ea typeface="Calibri"/>
                <a:cs typeface="Calibri"/>
                <a:sym typeface="Calibri"/>
              </a:rPr>
            </a:br>
            <a:r>
              <a:rPr lang="en">
                <a:solidFill>
                  <a:srgbClr val="222222"/>
                </a:solidFill>
                <a:highlight>
                  <a:srgbClr val="FFFFFF"/>
                </a:highlight>
                <a:latin typeface="Calibri"/>
                <a:ea typeface="Calibri"/>
                <a:cs typeface="Calibri"/>
                <a:sym typeface="Calibri"/>
              </a:rPr>
              <a:t> </a:t>
            </a:r>
            <a:r>
              <a:rPr lang="en" u="sng">
                <a:solidFill>
                  <a:srgbClr val="1155CC"/>
                </a:solidFill>
                <a:highlight>
                  <a:srgbClr val="FFFFFF"/>
                </a:highlight>
                <a:latin typeface="Calibri"/>
                <a:ea typeface="Calibri"/>
                <a:cs typeface="Calibri"/>
                <a:sym typeface="Calibri"/>
                <a:hlinkClick r:id="rId6">
                  <a:extLst>
                    <a:ext uri="{A12FA001-AC4F-418D-AE19-62706E023703}">
                      <ahyp:hlinkClr val="tx"/>
                    </a:ext>
                  </a:extLst>
                </a:hlinkClick>
              </a:rPr>
              <a:t>https://github.com/oscal-club/awesome-oscal</a:t>
            </a:r>
            <a:endParaRPr>
              <a:solidFill>
                <a:schemeClr val="dk2"/>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 u="sng">
                <a:solidFill>
                  <a:srgbClr val="1155CC"/>
                </a:solidFill>
                <a:highlight>
                  <a:srgbClr val="FFFFFF"/>
                </a:highlight>
                <a:latin typeface="Calibri"/>
                <a:ea typeface="Calibri"/>
                <a:cs typeface="Calibri"/>
                <a:sym typeface="Calibri"/>
                <a:hlinkClick r:id="rId7">
                  <a:extLst>
                    <a:ext uri="{A12FA001-AC4F-418D-AE19-62706E023703}">
                      <ahyp:hlinkClr val="tx"/>
                    </a:ext>
                  </a:extLst>
                </a:hlinkClick>
              </a:rPr>
              <a:t>https://gemara.openssf.org/</a:t>
            </a:r>
            <a:r>
              <a:rPr lang="en">
                <a:solidFill>
                  <a:srgbClr val="222222"/>
                </a:solidFill>
                <a:highlight>
                  <a:srgbClr val="FFFFFF"/>
                </a:highlight>
                <a:latin typeface="Calibri"/>
                <a:ea typeface="Calibri"/>
                <a:cs typeface="Calibri"/>
                <a:sym typeface="Calibri"/>
              </a:rPr>
              <a:t>.</a:t>
            </a:r>
            <a:endParaRPr>
              <a:solidFill>
                <a:schemeClr val="dk2"/>
              </a:solidFill>
              <a:latin typeface="Calibri"/>
              <a:ea typeface="Calibri"/>
              <a:cs typeface="Calibri"/>
              <a:sym typeface="Calibri"/>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10" name="Shape 210"/>
        <p:cNvGrpSpPr/>
        <p:nvPr/>
      </p:nvGrpSpPr>
      <p:grpSpPr>
        <a:xfrm>
          <a:off x="0" y="0"/>
          <a:ext cx="0" cy="0"/>
          <a:chOff x="0" y="0"/>
          <a:chExt cx="0" cy="0"/>
        </a:xfrm>
      </p:grpSpPr>
      <p:sp>
        <p:nvSpPr>
          <p:cNvPr id="211" name="Google Shape;211;p20"/>
          <p:cNvSpPr/>
          <p:nvPr/>
        </p:nvSpPr>
        <p:spPr>
          <a:xfrm>
            <a:off x="0" y="0"/>
            <a:ext cx="2286000" cy="73200"/>
          </a:xfrm>
          <a:prstGeom prst="rect">
            <a:avLst/>
          </a:prstGeom>
          <a:solidFill>
            <a:srgbClr val="1A73E8"/>
          </a:solidFill>
          <a:ln cap="flat" cmpd="sng" w="1270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0"/>
          <p:cNvSpPr/>
          <p:nvPr/>
        </p:nvSpPr>
        <p:spPr>
          <a:xfrm>
            <a:off x="2286000" y="0"/>
            <a:ext cx="2286000" cy="732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0"/>
          <p:cNvSpPr/>
          <p:nvPr/>
        </p:nvSpPr>
        <p:spPr>
          <a:xfrm>
            <a:off x="4572000" y="0"/>
            <a:ext cx="2286000" cy="732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0"/>
          <p:cNvSpPr/>
          <p:nvPr/>
        </p:nvSpPr>
        <p:spPr>
          <a:xfrm>
            <a:off x="6858000" y="0"/>
            <a:ext cx="2286000" cy="732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a:off x="365760" y="225412"/>
            <a:ext cx="8412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2200"/>
              <a:buFont typeface="Arial"/>
              <a:buNone/>
            </a:pPr>
            <a:r>
              <a:rPr b="1" lang="en" sz="3000">
                <a:solidFill>
                  <a:srgbClr val="202124"/>
                </a:solidFill>
              </a:rPr>
              <a:t>Before vs After</a:t>
            </a:r>
            <a:endParaRPr b="0" i="0" sz="2200" u="none" cap="none" strike="noStrike">
              <a:solidFill>
                <a:schemeClr val="dk1"/>
              </a:solidFill>
              <a:latin typeface="Calibri"/>
              <a:ea typeface="Calibri"/>
              <a:cs typeface="Calibri"/>
              <a:sym typeface="Calibri"/>
            </a:endParaRPr>
          </a:p>
        </p:txBody>
      </p:sp>
      <p:sp>
        <p:nvSpPr>
          <p:cNvPr id="216" name="Google Shape;216;p20"/>
          <p:cNvSpPr/>
          <p:nvPr/>
        </p:nvSpPr>
        <p:spPr>
          <a:xfrm>
            <a:off x="365760" y="610441"/>
            <a:ext cx="8412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300"/>
              <a:buFont typeface="Arial"/>
              <a:buNone/>
            </a:pPr>
            <a:r>
              <a:rPr b="0" i="0" lang="en" sz="1300" u="none" cap="none" strike="noStrike">
                <a:solidFill>
                  <a:srgbClr val="5F6368"/>
                </a:solidFill>
                <a:latin typeface="Arial"/>
                <a:ea typeface="Arial"/>
                <a:cs typeface="Arial"/>
                <a:sym typeface="Arial"/>
              </a:rPr>
              <a:t>Manual Compliance Process  →  AI-Automated Pipeline</a:t>
            </a:r>
            <a:endParaRPr b="0" i="0" sz="1300" u="none" cap="none" strike="noStrike">
              <a:solidFill>
                <a:schemeClr val="dk1"/>
              </a:solidFill>
              <a:latin typeface="Calibri"/>
              <a:ea typeface="Calibri"/>
              <a:cs typeface="Calibri"/>
              <a:sym typeface="Calibri"/>
            </a:endParaRPr>
          </a:p>
        </p:txBody>
      </p:sp>
      <p:pic>
        <p:nvPicPr>
          <p:cNvPr id="217" name="Google Shape;217;p20" title="before_after_diagram.png"/>
          <p:cNvPicPr preferRelativeResize="0"/>
          <p:nvPr/>
        </p:nvPicPr>
        <p:blipFill>
          <a:blip r:embed="rId3">
            <a:alphaModFix/>
          </a:blip>
          <a:stretch>
            <a:fillRect/>
          </a:stretch>
        </p:blipFill>
        <p:spPr>
          <a:xfrm>
            <a:off x="152400" y="1152725"/>
            <a:ext cx="8839204" cy="317658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21"/>
          <p:cNvPicPr preferRelativeResize="0"/>
          <p:nvPr/>
        </p:nvPicPr>
        <p:blipFill>
          <a:blip r:embed="rId3">
            <a:alphaModFix/>
          </a:blip>
          <a:stretch>
            <a:fillRect/>
          </a:stretch>
        </p:blipFill>
        <p:spPr>
          <a:xfrm>
            <a:off x="152400" y="152400"/>
            <a:ext cx="8602134" cy="4838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9FA"/>
        </a:solidFill>
      </p:bgPr>
    </p:bg>
    <p:spTree>
      <p:nvGrpSpPr>
        <p:cNvPr id="227" name="Shape 227"/>
        <p:cNvGrpSpPr/>
        <p:nvPr/>
      </p:nvGrpSpPr>
      <p:grpSpPr>
        <a:xfrm>
          <a:off x="0" y="0"/>
          <a:ext cx="0" cy="0"/>
          <a:chOff x="0" y="0"/>
          <a:chExt cx="0" cy="0"/>
        </a:xfrm>
      </p:grpSpPr>
      <p:sp>
        <p:nvSpPr>
          <p:cNvPr id="228" name="Google Shape;228;p22"/>
          <p:cNvSpPr/>
          <p:nvPr/>
        </p:nvSpPr>
        <p:spPr>
          <a:xfrm>
            <a:off x="0" y="0"/>
            <a:ext cx="2286000" cy="91500"/>
          </a:xfrm>
          <a:prstGeom prst="rect">
            <a:avLst/>
          </a:prstGeom>
          <a:solidFill>
            <a:srgbClr val="1A73E8"/>
          </a:solidFill>
          <a:ln cap="flat" cmpd="sng" w="1270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2"/>
          <p:cNvSpPr/>
          <p:nvPr/>
        </p:nvSpPr>
        <p:spPr>
          <a:xfrm>
            <a:off x="2286000" y="0"/>
            <a:ext cx="2286000" cy="91500"/>
          </a:xfrm>
          <a:prstGeom prst="rect">
            <a:avLst/>
          </a:prstGeom>
          <a:solidFill>
            <a:srgbClr val="EA4335"/>
          </a:solidFill>
          <a:ln cap="flat" cmpd="sng" w="12700">
            <a:solidFill>
              <a:srgbClr val="EA433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2"/>
          <p:cNvSpPr/>
          <p:nvPr/>
        </p:nvSpPr>
        <p:spPr>
          <a:xfrm>
            <a:off x="4572000" y="0"/>
            <a:ext cx="2286000" cy="91500"/>
          </a:xfrm>
          <a:prstGeom prst="rect">
            <a:avLst/>
          </a:prstGeom>
          <a:solidFill>
            <a:srgbClr val="FBBC04"/>
          </a:solidFill>
          <a:ln cap="flat" cmpd="sng" w="12700">
            <a:solidFill>
              <a:srgbClr val="FBBC0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2"/>
          <p:cNvSpPr/>
          <p:nvPr/>
        </p:nvSpPr>
        <p:spPr>
          <a:xfrm>
            <a:off x="6858000" y="0"/>
            <a:ext cx="2286000" cy="915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2"/>
          <p:cNvSpPr/>
          <p:nvPr/>
        </p:nvSpPr>
        <p:spPr>
          <a:xfrm>
            <a:off x="457200" y="22860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3400"/>
              <a:buFont typeface="Arial"/>
              <a:buNone/>
            </a:pPr>
            <a:r>
              <a:rPr b="1" lang="en" sz="3400">
                <a:solidFill>
                  <a:srgbClr val="202124"/>
                </a:solidFill>
              </a:rPr>
              <a:t>Risks</a:t>
            </a:r>
            <a:endParaRPr b="0" i="0" sz="3400" u="none" cap="none" strike="noStrike">
              <a:solidFill>
                <a:schemeClr val="dk1"/>
              </a:solidFill>
              <a:latin typeface="Calibri"/>
              <a:ea typeface="Calibri"/>
              <a:cs typeface="Calibri"/>
              <a:sym typeface="Calibri"/>
            </a:endParaRPr>
          </a:p>
        </p:txBody>
      </p:sp>
      <p:sp>
        <p:nvSpPr>
          <p:cNvPr id="233" name="Google Shape;233;p22"/>
          <p:cNvSpPr/>
          <p:nvPr/>
        </p:nvSpPr>
        <p:spPr>
          <a:xfrm>
            <a:off x="457200" y="914400"/>
            <a:ext cx="8229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500"/>
              <a:buFont typeface="Arial"/>
              <a:buNone/>
            </a:pPr>
            <a:r>
              <a:rPr lang="en" sz="1500">
                <a:solidFill>
                  <a:srgbClr val="5F6368"/>
                </a:solidFill>
              </a:rPr>
              <a:t>Two risks associated with our solution</a:t>
            </a:r>
            <a:endParaRPr b="0" i="0" sz="1500" u="none" cap="none" strike="noStrike">
              <a:solidFill>
                <a:schemeClr val="dk1"/>
              </a:solidFill>
              <a:latin typeface="Calibri"/>
              <a:ea typeface="Calibri"/>
              <a:cs typeface="Calibri"/>
              <a:sym typeface="Calibri"/>
            </a:endParaRPr>
          </a:p>
        </p:txBody>
      </p:sp>
      <p:sp>
        <p:nvSpPr>
          <p:cNvPr id="234" name="Google Shape;234;p22"/>
          <p:cNvSpPr/>
          <p:nvPr/>
        </p:nvSpPr>
        <p:spPr>
          <a:xfrm>
            <a:off x="457200" y="1298448"/>
            <a:ext cx="8229600" cy="22800"/>
          </a:xfrm>
          <a:prstGeom prst="rect">
            <a:avLst/>
          </a:prstGeom>
          <a:solidFill>
            <a:srgbClr val="E8EAED"/>
          </a:solidFill>
          <a:ln cap="flat" cmpd="sng" w="12700">
            <a:solidFill>
              <a:srgbClr val="E8E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2"/>
          <p:cNvSpPr/>
          <p:nvPr/>
        </p:nvSpPr>
        <p:spPr>
          <a:xfrm>
            <a:off x="1852055" y="1513765"/>
            <a:ext cx="2651700" cy="3108900"/>
          </a:xfrm>
          <a:prstGeom prst="rect">
            <a:avLst/>
          </a:prstGeom>
          <a:solidFill>
            <a:srgbClr val="FFFFFF"/>
          </a:solidFill>
          <a:ln cap="flat" cmpd="sng" w="12700">
            <a:solidFill>
              <a:srgbClr val="E8EAED"/>
            </a:solidFill>
            <a:prstDash val="solid"/>
            <a:round/>
            <a:headEnd len="sm" w="sm" type="none"/>
            <a:tailEnd len="sm" w="sm" type="none"/>
          </a:ln>
          <a:effectLst>
            <a:outerShdw blurRad="1016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2"/>
          <p:cNvSpPr/>
          <p:nvPr/>
        </p:nvSpPr>
        <p:spPr>
          <a:xfrm>
            <a:off x="1852055" y="1513765"/>
            <a:ext cx="2651700" cy="63900"/>
          </a:xfrm>
          <a:prstGeom prst="rect">
            <a:avLst/>
          </a:prstGeom>
          <a:solidFill>
            <a:srgbClr val="1A73E8"/>
          </a:solidFill>
          <a:ln cap="flat" cmpd="sng" w="1270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2"/>
          <p:cNvSpPr/>
          <p:nvPr/>
        </p:nvSpPr>
        <p:spPr>
          <a:xfrm>
            <a:off x="2016647" y="1678357"/>
            <a:ext cx="640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3E8"/>
              </a:buClr>
              <a:buSzPts val="2800"/>
              <a:buFont typeface="Arial"/>
              <a:buNone/>
            </a:pPr>
            <a:r>
              <a:rPr b="1" i="0" lang="en" sz="2800" u="none" cap="none" strike="noStrike">
                <a:solidFill>
                  <a:srgbClr val="1A73E8"/>
                </a:solidFill>
                <a:latin typeface="Arial"/>
                <a:ea typeface="Arial"/>
                <a:cs typeface="Arial"/>
                <a:sym typeface="Arial"/>
              </a:rPr>
              <a:t>01</a:t>
            </a:r>
            <a:endParaRPr b="0" i="0" sz="2800" u="none" cap="none" strike="noStrike">
              <a:solidFill>
                <a:schemeClr val="dk1"/>
              </a:solidFill>
              <a:latin typeface="Calibri"/>
              <a:ea typeface="Calibri"/>
              <a:cs typeface="Calibri"/>
              <a:sym typeface="Calibri"/>
            </a:endParaRPr>
          </a:p>
        </p:txBody>
      </p:sp>
      <p:sp>
        <p:nvSpPr>
          <p:cNvPr id="238" name="Google Shape;238;p22"/>
          <p:cNvSpPr/>
          <p:nvPr/>
        </p:nvSpPr>
        <p:spPr>
          <a:xfrm>
            <a:off x="2016647" y="2263573"/>
            <a:ext cx="2377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1400"/>
              <a:buFont typeface="Arial"/>
              <a:buNone/>
            </a:pPr>
            <a:r>
              <a:rPr b="1" lang="en">
                <a:solidFill>
                  <a:srgbClr val="202124"/>
                </a:solidFill>
              </a:rPr>
              <a:t>Hallucinated mappings</a:t>
            </a:r>
            <a:endParaRPr b="0" i="0" sz="1400" u="none" cap="none" strike="noStrike">
              <a:solidFill>
                <a:schemeClr val="dk1"/>
              </a:solidFill>
              <a:latin typeface="Calibri"/>
              <a:ea typeface="Calibri"/>
              <a:cs typeface="Calibri"/>
              <a:sym typeface="Calibri"/>
            </a:endParaRPr>
          </a:p>
        </p:txBody>
      </p:sp>
      <p:sp>
        <p:nvSpPr>
          <p:cNvPr id="239" name="Google Shape;239;p22"/>
          <p:cNvSpPr/>
          <p:nvPr/>
        </p:nvSpPr>
        <p:spPr>
          <a:xfrm>
            <a:off x="2016647" y="2629333"/>
            <a:ext cx="23775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73E8"/>
              </a:buClr>
              <a:buSzPts val="1000"/>
              <a:buFont typeface="Arial"/>
              <a:buNone/>
            </a:pPr>
            <a:r>
              <a:rPr i="1" lang="en" sz="1000">
                <a:solidFill>
                  <a:srgbClr val="1A73E8"/>
                </a:solidFill>
              </a:rPr>
              <a:t>Can create silent compliance gaps</a:t>
            </a:r>
            <a:endParaRPr b="0" i="0" sz="1000" u="none" cap="none" strike="noStrike">
              <a:solidFill>
                <a:schemeClr val="dk1"/>
              </a:solidFill>
              <a:latin typeface="Calibri"/>
              <a:ea typeface="Calibri"/>
              <a:cs typeface="Calibri"/>
              <a:sym typeface="Calibri"/>
            </a:endParaRPr>
          </a:p>
        </p:txBody>
      </p:sp>
      <p:sp>
        <p:nvSpPr>
          <p:cNvPr id="240" name="Google Shape;240;p22"/>
          <p:cNvSpPr/>
          <p:nvPr/>
        </p:nvSpPr>
        <p:spPr>
          <a:xfrm>
            <a:off x="2016647" y="2931085"/>
            <a:ext cx="2377500" cy="14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1100"/>
              <a:buFont typeface="Arial"/>
              <a:buNone/>
            </a:pPr>
            <a:r>
              <a:rPr lang="en" sz="1100">
                <a:solidFill>
                  <a:srgbClr val="3C4043"/>
                </a:solidFill>
              </a:rPr>
              <a:t>Human-in-the-loop approval on every AI mapping, with confidence scores and golden-set evaluation before frameworks go live.</a:t>
            </a:r>
            <a:endParaRPr b="0" i="0" sz="1100" u="none" cap="none" strike="noStrike">
              <a:solidFill>
                <a:schemeClr val="dk1"/>
              </a:solidFill>
              <a:latin typeface="Calibri"/>
              <a:ea typeface="Calibri"/>
              <a:cs typeface="Calibri"/>
              <a:sym typeface="Calibri"/>
            </a:endParaRPr>
          </a:p>
        </p:txBody>
      </p:sp>
      <p:sp>
        <p:nvSpPr>
          <p:cNvPr id="241" name="Google Shape;241;p22"/>
          <p:cNvSpPr/>
          <p:nvPr/>
        </p:nvSpPr>
        <p:spPr>
          <a:xfrm>
            <a:off x="4663835" y="1513765"/>
            <a:ext cx="2651700" cy="3108900"/>
          </a:xfrm>
          <a:prstGeom prst="rect">
            <a:avLst/>
          </a:prstGeom>
          <a:solidFill>
            <a:srgbClr val="FFFFFF"/>
          </a:solidFill>
          <a:ln cap="flat" cmpd="sng" w="12700">
            <a:solidFill>
              <a:srgbClr val="E8EAED"/>
            </a:solidFill>
            <a:prstDash val="solid"/>
            <a:round/>
            <a:headEnd len="sm" w="sm" type="none"/>
            <a:tailEnd len="sm" w="sm" type="none"/>
          </a:ln>
          <a:effectLst>
            <a:outerShdw blurRad="101600" rotWithShape="0" algn="bl" dir="8100000" dist="254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
          <p:cNvSpPr/>
          <p:nvPr/>
        </p:nvSpPr>
        <p:spPr>
          <a:xfrm>
            <a:off x="4663835" y="1513765"/>
            <a:ext cx="2651700" cy="63900"/>
          </a:xfrm>
          <a:prstGeom prst="rect">
            <a:avLst/>
          </a:prstGeom>
          <a:solidFill>
            <a:srgbClr val="34A853"/>
          </a:solidFill>
          <a:ln cap="flat" cmpd="sng" w="12700">
            <a:solidFill>
              <a:srgbClr val="34A85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
          <p:cNvSpPr/>
          <p:nvPr/>
        </p:nvSpPr>
        <p:spPr>
          <a:xfrm>
            <a:off x="4828427" y="1678357"/>
            <a:ext cx="640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A853"/>
              </a:buClr>
              <a:buSzPts val="2800"/>
              <a:buFont typeface="Arial"/>
              <a:buNone/>
            </a:pPr>
            <a:r>
              <a:rPr b="1" i="0" lang="en" sz="2800" u="none" cap="none" strike="noStrike">
                <a:solidFill>
                  <a:srgbClr val="34A853"/>
                </a:solidFill>
                <a:latin typeface="Arial"/>
                <a:ea typeface="Arial"/>
                <a:cs typeface="Arial"/>
                <a:sym typeface="Arial"/>
              </a:rPr>
              <a:t>02</a:t>
            </a:r>
            <a:endParaRPr b="0" i="0" sz="2800" u="none" cap="none" strike="noStrike">
              <a:solidFill>
                <a:schemeClr val="dk1"/>
              </a:solidFill>
              <a:latin typeface="Calibri"/>
              <a:ea typeface="Calibri"/>
              <a:cs typeface="Calibri"/>
              <a:sym typeface="Calibri"/>
            </a:endParaRPr>
          </a:p>
        </p:txBody>
      </p:sp>
      <p:sp>
        <p:nvSpPr>
          <p:cNvPr id="244" name="Google Shape;244;p22"/>
          <p:cNvSpPr/>
          <p:nvPr/>
        </p:nvSpPr>
        <p:spPr>
          <a:xfrm>
            <a:off x="4828427" y="2263573"/>
            <a:ext cx="23775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2124"/>
              </a:buClr>
              <a:buSzPts val="1400"/>
              <a:buFont typeface="Arial"/>
              <a:buNone/>
            </a:pPr>
            <a:r>
              <a:rPr b="1" lang="en">
                <a:solidFill>
                  <a:srgbClr val="202124"/>
                </a:solidFill>
              </a:rPr>
              <a:t>Unclear liability</a:t>
            </a:r>
            <a:endParaRPr b="0" i="0" sz="1400" u="none" cap="none" strike="noStrike">
              <a:solidFill>
                <a:schemeClr val="dk1"/>
              </a:solidFill>
              <a:latin typeface="Calibri"/>
              <a:ea typeface="Calibri"/>
              <a:cs typeface="Calibri"/>
              <a:sym typeface="Calibri"/>
            </a:endParaRPr>
          </a:p>
        </p:txBody>
      </p:sp>
      <p:sp>
        <p:nvSpPr>
          <p:cNvPr id="245" name="Google Shape;245;p22"/>
          <p:cNvSpPr/>
          <p:nvPr/>
        </p:nvSpPr>
        <p:spPr>
          <a:xfrm>
            <a:off x="4828425" y="2629317"/>
            <a:ext cx="23775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4A853"/>
              </a:buClr>
              <a:buSzPts val="1000"/>
              <a:buFont typeface="Arial"/>
              <a:buNone/>
            </a:pPr>
            <a:r>
              <a:rPr i="1" lang="en" sz="1000">
                <a:solidFill>
                  <a:srgbClr val="34A853"/>
                </a:solidFill>
              </a:rPr>
              <a:t>when AI-assisted audits go wrong erodes trust with auditors and regulated customers.</a:t>
            </a:r>
            <a:endParaRPr b="0" i="0" sz="1000" u="none" cap="none" strike="noStrike">
              <a:solidFill>
                <a:schemeClr val="dk1"/>
              </a:solidFill>
              <a:latin typeface="Calibri"/>
              <a:ea typeface="Calibri"/>
              <a:cs typeface="Calibri"/>
              <a:sym typeface="Calibri"/>
            </a:endParaRPr>
          </a:p>
        </p:txBody>
      </p:sp>
      <p:sp>
        <p:nvSpPr>
          <p:cNvPr id="246" name="Google Shape;246;p22"/>
          <p:cNvSpPr/>
          <p:nvPr/>
        </p:nvSpPr>
        <p:spPr>
          <a:xfrm>
            <a:off x="4828427" y="2931085"/>
            <a:ext cx="2377500" cy="14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C4043"/>
              </a:buClr>
              <a:buSzPts val="1100"/>
              <a:buFont typeface="Arial"/>
              <a:buNone/>
            </a:pPr>
            <a:r>
              <a:rPr lang="en" sz="1100">
                <a:solidFill>
                  <a:srgbClr val="3C4043"/>
                </a:solidFill>
              </a:rPr>
              <a:t>Position the tool as decision-support, not decision-making - every action attributed to a named auditor, AI outputs labeled as drafts until approved.</a:t>
            </a:r>
            <a:endParaRPr b="0" i="0" sz="1100" u="none" cap="none" strike="noStrike">
              <a:solidFill>
                <a:schemeClr val="dk1"/>
              </a:solidFill>
              <a:latin typeface="Calibri"/>
              <a:ea typeface="Calibri"/>
              <a:cs typeface="Calibri"/>
              <a:sym typeface="Calibri"/>
            </a:endParaRPr>
          </a:p>
        </p:txBody>
      </p:sp>
      <p:sp>
        <p:nvSpPr>
          <p:cNvPr id="247" name="Google Shape;247;p22"/>
          <p:cNvSpPr/>
          <p:nvPr/>
        </p:nvSpPr>
        <p:spPr>
          <a:xfrm>
            <a:off x="457200" y="4800600"/>
            <a:ext cx="8229600" cy="246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0A6"/>
              </a:buClr>
              <a:buSzPts val="1000"/>
              <a:buFont typeface="Calibri"/>
              <a:buNone/>
            </a:pPr>
            <a:r>
              <a:rPr b="0" i="1" lang="en" sz="1000" u="none" cap="none" strike="noStrike">
                <a:solidFill>
                  <a:srgbClr val="9AA0A6"/>
                </a:solidFill>
                <a:latin typeface="Calibri"/>
                <a:ea typeface="Calibri"/>
                <a:cs typeface="Calibri"/>
                <a:sym typeface="Calibri"/>
              </a:rPr>
              <a:t>Powered by LLMs + RAG  ·  Reduces manual effort  ·  Continuous compliance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3"/>
          <p:cNvSpPr txBox="1"/>
          <p:nvPr>
            <p:ph type="title"/>
          </p:nvPr>
        </p:nvSpPr>
        <p:spPr>
          <a:xfrm>
            <a:off x="311700" y="445025"/>
            <a:ext cx="89040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None/>
            </a:pPr>
            <a:r>
              <a:rPr b="1" lang="en" sz="3400">
                <a:solidFill>
                  <a:srgbClr val="202124"/>
                </a:solidFill>
              </a:rPr>
              <a:t>Sources</a:t>
            </a:r>
            <a:r>
              <a:rPr b="1" lang="en">
                <a:solidFill>
                  <a:srgbClr val="3C78D8"/>
                </a:solidFill>
              </a:rPr>
              <a:t> </a:t>
            </a:r>
            <a:r>
              <a:rPr b="1" lang="en" sz="3400">
                <a:solidFill>
                  <a:srgbClr val="202124"/>
                </a:solidFill>
              </a:rPr>
              <a:t>-</a:t>
            </a:r>
            <a:r>
              <a:rPr b="1" lang="en">
                <a:solidFill>
                  <a:srgbClr val="3C78D8"/>
                </a:solidFill>
              </a:rPr>
              <a:t> </a:t>
            </a:r>
            <a:r>
              <a:rPr b="1" lang="en" sz="3400">
                <a:solidFill>
                  <a:srgbClr val="202124"/>
                </a:solidFill>
              </a:rPr>
              <a:t>Correspondance with Aaron</a:t>
            </a:r>
            <a:endParaRPr b="1" sz="3400">
              <a:solidFill>
                <a:srgbClr val="202124"/>
              </a:solidFill>
            </a:endParaRPr>
          </a:p>
        </p:txBody>
      </p:sp>
      <p:pic>
        <p:nvPicPr>
          <p:cNvPr id="253" name="Google Shape;253;p23" title="Screenshot 2026-04-28 at 18.27.41.png"/>
          <p:cNvPicPr preferRelativeResize="0"/>
          <p:nvPr/>
        </p:nvPicPr>
        <p:blipFill>
          <a:blip r:embed="rId3">
            <a:alphaModFix/>
          </a:blip>
          <a:stretch>
            <a:fillRect/>
          </a:stretch>
        </p:blipFill>
        <p:spPr>
          <a:xfrm>
            <a:off x="199125" y="1232374"/>
            <a:ext cx="8642924" cy="1820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4"/>
          <p:cNvSpPr txBox="1"/>
          <p:nvPr>
            <p:ph type="title"/>
          </p:nvPr>
        </p:nvSpPr>
        <p:spPr>
          <a:xfrm>
            <a:off x="311700" y="445025"/>
            <a:ext cx="8904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400">
                <a:solidFill>
                  <a:srgbClr val="202124"/>
                </a:solidFill>
              </a:rPr>
              <a:t>Sources - Correspondance with Aaron</a:t>
            </a:r>
            <a:endParaRPr b="1">
              <a:solidFill>
                <a:srgbClr val="3C78D8"/>
              </a:solidFill>
            </a:endParaRPr>
          </a:p>
        </p:txBody>
      </p:sp>
      <p:pic>
        <p:nvPicPr>
          <p:cNvPr id="259" name="Google Shape;259;p24" title="Screenshot 2026-04-28 at 18.29.23.png"/>
          <p:cNvPicPr preferRelativeResize="0"/>
          <p:nvPr/>
        </p:nvPicPr>
        <p:blipFill>
          <a:blip r:embed="rId3">
            <a:alphaModFix/>
          </a:blip>
          <a:stretch>
            <a:fillRect/>
          </a:stretch>
        </p:blipFill>
        <p:spPr>
          <a:xfrm>
            <a:off x="152400" y="1170125"/>
            <a:ext cx="8904001" cy="184375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5" name="Google Shape;26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Create a premium final presentation slide for a startup pitch deck using Google corporate design language, matching all previous slides in the deck.&#10;SLIDE PURPOSE:&#10;Closing / Thank You slide&#10;STYLE:&#10;&#10;&#10;Clean Google Cloud / Alphabet style&#10;&#10;&#10;Light gray background&#10;&#10;&#10;Minimalist premium consulting presentation feel&#10;&#10;&#10;Spacious, elegant, modern&#10;&#10;&#10;High-end investor deck finish&#10;&#10;&#10;Same theme as previous slides&#10;&#10;&#10;TOP BORDER:&#10;Use full-width thin Google color strip:&#10;Blue, Red, Yellow, Green&#10;MAIN CENTER CONTENT:&#10;Large bold headline in Google Blue:&#10;Thank You!&#10;Below it, smaller elegant gray subtitle:&#10;Questions &amp; Discussion&#10;BOTTOM SECTION:&#10;Centered horizontally near bottom:&#10;Google-colored four-dot motif or four short bars representing Google colors:&#10;Blue • Red • Yellow • Green&#10;Optional very small footer text below dots:&#10;GCP Compliance Automation&#10;TYPOGRAPHY:&#10;&#10;&#10;Google Sans style&#10;&#10;&#10;Large bold headline&#10;&#10;&#10;Perfect spacing and alignment&#10;&#10;&#10;Crisp premium look&#10;&#10;&#10;LAYOUT:&#10;&#10;&#10;Headline vertically centered slightly above middle&#10;&#10;&#10;Subtitle below with generous spacing&#10;&#10;&#10;Footer motif near bottom center&#10;&#10;&#10;Plenty of whitespace&#10;&#10;&#10;MOOD:&#10;Confident, polished, modern, memorable closing slide&#10;16:9 widescreen format&#10;Make it look like a real Google executive presentation closing slide." id="266" name="Google Shape;266;p25"/>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0" name="Shape 270"/>
        <p:cNvGrpSpPr/>
        <p:nvPr/>
      </p:nvGrpSpPr>
      <p:grpSpPr>
        <a:xfrm>
          <a:off x="0" y="0"/>
          <a:ext cx="0" cy="0"/>
          <a:chOff x="0" y="0"/>
          <a:chExt cx="0" cy="0"/>
        </a:xfrm>
      </p:grpSpPr>
      <p:sp>
        <p:nvSpPr>
          <p:cNvPr id="271" name="Google Shape;271;p26"/>
          <p:cNvSpPr txBox="1"/>
          <p:nvPr/>
        </p:nvSpPr>
        <p:spPr>
          <a:xfrm>
            <a:off x="180300" y="230875"/>
            <a:ext cx="4281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Why our Solution is Better ?</a:t>
            </a:r>
            <a:endParaRPr b="1" sz="1800">
              <a:solidFill>
                <a:schemeClr val="dk2"/>
              </a:solidFill>
            </a:endParaRPr>
          </a:p>
        </p:txBody>
      </p:sp>
      <p:sp>
        <p:nvSpPr>
          <p:cNvPr id="272" name="Google Shape;272;p26"/>
          <p:cNvSpPr txBox="1"/>
          <p:nvPr/>
        </p:nvSpPr>
        <p:spPr>
          <a:xfrm>
            <a:off x="180300" y="419550"/>
            <a:ext cx="8564100" cy="43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Our Value Prop compared to AWS, Prisma, Azure</a:t>
            </a:r>
            <a:br>
              <a:rPr lang="en" sz="1800">
                <a:solidFill>
                  <a:schemeClr val="dk2"/>
                </a:solidFill>
              </a:rPr>
            </a:br>
            <a:endParaRPr sz="1800">
              <a:solidFill>
                <a:schemeClr val="dk2"/>
              </a:solidFill>
            </a:endParaRPr>
          </a:p>
          <a:p>
            <a:pPr indent="0" lvl="0" marL="0" rtl="0" algn="l">
              <a:spcBef>
                <a:spcPts val="0"/>
              </a:spcBef>
              <a:spcAft>
                <a:spcPts val="0"/>
              </a:spcAft>
              <a:buNone/>
            </a:pPr>
            <a:r>
              <a:rPr lang="en" sz="1800">
                <a:solidFill>
                  <a:schemeClr val="dk2"/>
                </a:solidFill>
              </a:rPr>
              <a:t>Why is it needed now for google ?</a:t>
            </a:r>
            <a:endParaRPr sz="1800">
              <a:solidFill>
                <a:schemeClr val="dk2"/>
              </a:solidFill>
            </a:endParaRPr>
          </a:p>
          <a:p>
            <a:pPr indent="0" lvl="0" marL="0" rtl="0" algn="l">
              <a:spcBef>
                <a:spcPts val="0"/>
              </a:spcBef>
              <a:spcAft>
                <a:spcPts val="0"/>
              </a:spcAft>
              <a:buNone/>
            </a:pPr>
            <a:r>
              <a:rPr lang="en" sz="1800">
                <a:solidFill>
                  <a:schemeClr val="dk2"/>
                </a:solidFill>
              </a:rPr>
              <a:t>Multicloud platforms </a:t>
            </a:r>
            <a:endParaRPr sz="1800">
              <a:solidFill>
                <a:schemeClr val="dk2"/>
              </a:solidFill>
            </a:endParaRPr>
          </a:p>
          <a:p>
            <a:pPr indent="0" lvl="0" marL="0" rtl="0" algn="l">
              <a:spcBef>
                <a:spcPts val="0"/>
              </a:spcBef>
              <a:spcAft>
                <a:spcPts val="0"/>
              </a:spcAft>
              <a:buNone/>
            </a:pPr>
            <a:r>
              <a:rPr lang="en" sz="1800">
                <a:solidFill>
                  <a:schemeClr val="dk2"/>
                </a:solidFill>
              </a:rPr>
              <a:t>What is the opp cost ?</a:t>
            </a:r>
            <a:endParaRPr sz="1800">
              <a:solidFill>
                <a:schemeClr val="dk2"/>
              </a:solidFill>
            </a:endParaRPr>
          </a:p>
          <a:p>
            <a:pPr indent="0" lvl="0" marL="0" rtl="0" algn="l">
              <a:spcBef>
                <a:spcPts val="0"/>
              </a:spcBef>
              <a:spcAft>
                <a:spcPts val="0"/>
              </a:spcAft>
              <a:buNone/>
            </a:pPr>
            <a:r>
              <a:rPr lang="en" sz="1800">
                <a:solidFill>
                  <a:schemeClr val="dk2"/>
                </a:solidFill>
              </a:rPr>
              <a:t>AI </a:t>
            </a:r>
            <a:r>
              <a:rPr lang="en" sz="1800">
                <a:solidFill>
                  <a:schemeClr val="dk2"/>
                </a:solidFill>
              </a:rPr>
              <a:t>focused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Our Value Prop vs. AWS, Prisma Cloud &amp; Azure</a:t>
            </a:r>
            <a:r>
              <a:rPr lang="en" sz="1100">
                <a:solidFill>
                  <a:schemeClr val="dk1"/>
                </a:solidFill>
              </a:rPr>
              <a:t> AWS Security Hub, Azure Defender for Cloud, and Prisma Cloud all offer compliance monitoring within their own ecosystems — but none combine automated control mapping, LLM-powered evidence collection, and auto-generated OPA/Rego policy in a single, integrated pipeline. Our solution delivers all three steps in one agentic workflow, purpose-built for GCP, at a fraction of the manual overhead.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Why Is It Needed Now for Google?</a:t>
            </a:r>
            <a:r>
              <a:rPr lang="en" sz="1100">
                <a:solidFill>
                  <a:schemeClr val="dk1"/>
                </a:solidFill>
              </a:rPr>
              <a:t> GCP currently has no native, end-to-end compliance automation layer — only ~40% of GCP services are mapped to regulatory frameworks today, and evidence collection is entirely manual. As GCP accelerates enterprise adoption, customers need a compliance story that is fast, auditable, and continuous; without it, GCP loses deals to AWS and Azure at the onboarding stage.</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Multicloud Platforms</a:t>
            </a:r>
            <a:r>
              <a:rPr lang="en" sz="1100">
                <a:solidFill>
                  <a:schemeClr val="dk1"/>
                </a:solidFill>
              </a:rPr>
              <a:t> While Prisma Cloud covers multicloud environments, it is highly priced, generates excessive alerts, and is difficult for human operators to validate — and still requires manual rule authoring. Our solution is GCP-native but designed with the same multicloud integration surface, giving enterprises a cleaner, more intelligent alternative without vendor lock-in overhead.</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Opportunity Cost</a:t>
            </a:r>
            <a:r>
              <a:rPr lang="en" sz="1100">
                <a:solidFill>
                  <a:schemeClr val="dk1"/>
                </a:solidFill>
              </a:rPr>
              <a:t> Every day without automated compliance mapping costs enterprises roughly 180 days of manual onboarding time, delayed audit readiness, and undetected configuration drift. For Google Cloud, the opportunity cost is measured in enterprise contracts lost to AWS and Azure where automated compliance tooling is already an expected baseline.</a:t>
            </a:r>
            <a:endParaRPr sz="1100">
              <a:solidFill>
                <a:schemeClr val="dk1"/>
              </a:solidFill>
            </a:endParaRPr>
          </a:p>
          <a:p>
            <a:pPr indent="0" lvl="0" marL="0" rtl="0" algn="l">
              <a:spcBef>
                <a:spcPts val="1200"/>
              </a:spcBef>
              <a:spcAft>
                <a:spcPts val="0"/>
              </a:spcAft>
              <a:buNone/>
            </a:pPr>
            <a:r>
              <a:rPr lang="en" sz="1800">
                <a:solidFill>
                  <a:schemeClr val="dk2"/>
                </a:solidFill>
              </a:rPr>
              <a:t>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